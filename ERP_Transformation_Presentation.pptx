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961120" y="-2011680"/>
            <a:ext cx="5669280" cy="5669280"/>
          </a:xfrm>
          <a:prstGeom prst="ellipse">
            <a:avLst/>
          </a:prstGeom>
          <a:solidFill>
            <a:srgbClr val="3B4C99">
              <a:alpha val="30000"/>
            </a:srgbClr>
          </a:solidFill>
          <a:ln/>
        </p:spPr>
      </p:sp>
      <p:sp>
        <p:nvSpPr>
          <p:cNvPr id="3" name="Shape 1"/>
          <p:cNvSpPr/>
          <p:nvPr/>
        </p:nvSpPr>
        <p:spPr>
          <a:xfrm>
            <a:off x="9966960" y="-1005840"/>
            <a:ext cx="3657600" cy="3657600"/>
          </a:xfrm>
          <a:prstGeom prst="ellipse">
            <a:avLst/>
          </a:prstGeom>
          <a:solidFill>
            <a:srgbClr val="CADCFC">
              <a:alpha val="18000"/>
            </a:srgbClr>
          </a:solidFill>
          <a:ln/>
        </p:spPr>
      </p:sp>
      <p:sp>
        <p:nvSpPr>
          <p:cNvPr id="4" name="Text 2"/>
          <p:cNvSpPr/>
          <p:nvPr/>
        </p:nvSpPr>
        <p:spPr>
          <a:xfrm>
            <a:off x="822960" y="2331720"/>
            <a:ext cx="9875520" cy="457200"/>
          </a:xfrm>
          <a:prstGeom prst="rect">
            <a:avLst/>
          </a:prstGeom>
          <a:noFill/>
          <a:ln/>
        </p:spPr>
        <p:txBody>
          <a:bodyPr wrap="square" rtlCol="0" anchor="ctr"/>
          <a:lstStyle/>
          <a:p>
            <a:pPr indent="0" marL="0">
              <a:buNone/>
            </a:pPr>
            <a:r>
              <a:rPr lang="en-US" sz="1500" b="1" spc="300" kern="0" dirty="0">
                <a:solidFill>
                  <a:srgbClr val="CADCFC"/>
                </a:solidFill>
                <a:latin typeface="Calibri" pitchFamily="34" charset="0"/>
                <a:ea typeface="Calibri" pitchFamily="34" charset="-122"/>
                <a:cs typeface="Calibri" pitchFamily="34" charset="-120"/>
              </a:rPr>
              <a:t>ERP TRANSFORMATION PROGRAMME</a:t>
            </a:r>
            <a:endParaRPr lang="en-US" sz="1500" dirty="0"/>
          </a:p>
        </p:txBody>
      </p:sp>
      <p:sp>
        <p:nvSpPr>
          <p:cNvPr id="5" name="Text 3"/>
          <p:cNvSpPr/>
          <p:nvPr/>
        </p:nvSpPr>
        <p:spPr>
          <a:xfrm>
            <a:off x="822960" y="2788920"/>
            <a:ext cx="9875520" cy="1188720"/>
          </a:xfrm>
          <a:prstGeom prst="rect">
            <a:avLst/>
          </a:prstGeom>
          <a:noFill/>
          <a:ln/>
        </p:spPr>
        <p:txBody>
          <a:bodyPr wrap="square"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Recommended Implementation Strategy, Scope, and Data Continuity</a:t>
            </a:r>
            <a:endParaRPr lang="en-US" sz="3400" dirty="0"/>
          </a:p>
        </p:txBody>
      </p:sp>
      <p:sp>
        <p:nvSpPr>
          <p:cNvPr id="6" name="Text 4"/>
          <p:cNvSpPr/>
          <p:nvPr/>
        </p:nvSpPr>
        <p:spPr>
          <a:xfrm>
            <a:off x="822960" y="3977640"/>
            <a:ext cx="8046720" cy="365760"/>
          </a:xfrm>
          <a:prstGeom prst="rect">
            <a:avLst/>
          </a:prstGeom>
          <a:noFill/>
          <a:ln/>
        </p:spPr>
        <p:txBody>
          <a:bodyPr wrap="square" rtlCol="0" anchor="ctr"/>
          <a:lstStyle/>
          <a:p>
            <a:pPr indent="0" marL="0">
              <a:buNone/>
            </a:pPr>
            <a:r>
              <a:rPr lang="en-US" sz="1600" dirty="0">
                <a:solidFill>
                  <a:srgbClr val="CADCFC"/>
                </a:solidFill>
                <a:latin typeface="Calibri" pitchFamily="34" charset="0"/>
                <a:ea typeface="Calibri" pitchFamily="34" charset="-122"/>
                <a:cs typeface="Calibri" pitchFamily="34" charset="-120"/>
              </a:rPr>
              <a:t>Prepared for Alpha Manufacturing Group</a:t>
            </a:r>
            <a:endParaRPr lang="en-US" sz="1600" dirty="0"/>
          </a:p>
        </p:txBody>
      </p:sp>
      <p:sp>
        <p:nvSpPr>
          <p:cNvPr id="7" name="Shape 5"/>
          <p:cNvSpPr/>
          <p:nvPr/>
        </p:nvSpPr>
        <p:spPr>
          <a:xfrm>
            <a:off x="822960" y="4617720"/>
            <a:ext cx="2011680" cy="0"/>
          </a:xfrm>
          <a:prstGeom prst="line">
            <a:avLst/>
          </a:prstGeom>
          <a:noFill/>
          <a:ln w="19050">
            <a:solidFill>
              <a:srgbClr val="CADCFC"/>
            </a:solidFill>
            <a:prstDash val="solid"/>
          </a:ln>
        </p:spPr>
      </p:sp>
      <p:sp>
        <p:nvSpPr>
          <p:cNvPr id="8" name="Text 6"/>
          <p:cNvSpPr/>
          <p:nvPr/>
        </p:nvSpPr>
        <p:spPr>
          <a:xfrm>
            <a:off x="822960" y="4800600"/>
            <a:ext cx="5486400" cy="64008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ERP Transformation Advisory Team
</a:t>
            </a:r>
            <a:pPr indent="0" marL="0">
              <a:buNone/>
            </a:pPr>
            <a:r>
              <a:rPr lang="en-US" sz="1200" dirty="0">
                <a:solidFill>
                  <a:srgbClr val="CADCFC"/>
                </a:solidFill>
                <a:latin typeface="Calibri" pitchFamily="34" charset="0"/>
                <a:ea typeface="Calibri" pitchFamily="34" charset="-122"/>
                <a:cs typeface="Calibri" pitchFamily="34" charset="-120"/>
              </a:rPr>
              <a:t>12 July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548640"/>
          </a:xfrm>
          <a:prstGeom prst="rect">
            <a:avLst/>
          </a:prstGeom>
          <a:noFill/>
          <a:ln/>
        </p:spPr>
        <p:txBody>
          <a:bodyPr wrap="square"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Executive Summary</a:t>
            </a:r>
            <a:endParaRPr lang="en-US" sz="3000" dirty="0"/>
          </a:p>
        </p:txBody>
      </p:sp>
      <p:sp>
        <p:nvSpPr>
          <p:cNvPr id="3" name="Text 1"/>
          <p:cNvSpPr/>
          <p:nvPr/>
        </p:nvSpPr>
        <p:spPr>
          <a:xfrm>
            <a:off x="548640" y="1234440"/>
            <a:ext cx="6309360" cy="1463040"/>
          </a:xfrm>
          <a:prstGeom prst="rect">
            <a:avLst/>
          </a:prstGeom>
          <a:noFill/>
          <a:ln/>
        </p:spPr>
        <p:txBody>
          <a:bodyPr wrap="square" rtlCol="0" anchor="ctr"/>
          <a:lstStyle/>
          <a:p>
            <a:pPr indent="0" marL="0">
              <a:lnSpc>
                <a:spcPct val="125000"/>
              </a:lnSpc>
              <a:buNone/>
            </a:pPr>
            <a:r>
              <a:rPr lang="en-US" sz="1400" dirty="0">
                <a:solidFill>
                  <a:srgbClr val="1F2430"/>
                </a:solidFill>
                <a:latin typeface="Calibri" pitchFamily="34" charset="0"/>
                <a:ea typeface="Calibri" pitchFamily="34" charset="-122"/>
                <a:cs typeface="Calibri" pitchFamily="34" charset="-120"/>
              </a:rPr>
              <a:t>The current ERP environment processes daily transactions but does not give management timely insight into contribution margins, engineering changes, or production costs. Engineering, Manufacturing, Procurement, and Finance operate without reliable integration, so decisions are often based on incomplete information.</a:t>
            </a:r>
            <a:endParaRPr lang="en-US" sz="1400" dirty="0"/>
          </a:p>
        </p:txBody>
      </p:sp>
      <p:sp>
        <p:nvSpPr>
          <p:cNvPr id="4" name="Text 2"/>
          <p:cNvSpPr/>
          <p:nvPr/>
        </p:nvSpPr>
        <p:spPr>
          <a:xfrm>
            <a:off x="548640" y="2788920"/>
            <a:ext cx="6309360" cy="1554480"/>
          </a:xfrm>
          <a:prstGeom prst="rect">
            <a:avLst/>
          </a:prstGeom>
          <a:noFill/>
          <a:ln/>
        </p:spPr>
        <p:txBody>
          <a:bodyPr wrap="square" rtlCol="0" anchor="ctr"/>
          <a:lstStyle/>
          <a:p>
            <a:pPr indent="0" marL="0">
              <a:lnSpc>
                <a:spcPct val="125000"/>
              </a:lnSpc>
              <a:buNone/>
            </a:pPr>
            <a:r>
              <a:rPr lang="en-US" sz="1400" dirty="0">
                <a:solidFill>
                  <a:srgbClr val="1F2430"/>
                </a:solidFill>
                <a:latin typeface="Calibri" pitchFamily="34" charset="0"/>
                <a:ea typeface="Calibri" pitchFamily="34" charset="-122"/>
                <a:cs typeface="Calibri" pitchFamily="34" charset="-120"/>
              </a:rPr>
              <a:t>We recommend a single integrated ERP core covering Finance, Manufacturing, Procurement, Material Requirements Planning, and Engineering Bill of Materials management. CRM and HRIS are deferred to a second phase so the programme stays focused on the capabilities that most improve profitability and decision making.</a:t>
            </a:r>
            <a:endParaRPr lang="en-US" sz="1400" dirty="0"/>
          </a:p>
        </p:txBody>
      </p:sp>
      <p:sp>
        <p:nvSpPr>
          <p:cNvPr id="5" name="Shape 3"/>
          <p:cNvSpPr/>
          <p:nvPr/>
        </p:nvSpPr>
        <p:spPr>
          <a:xfrm>
            <a:off x="7360920" y="1234440"/>
            <a:ext cx="4251960" cy="1417320"/>
          </a:xfrm>
          <a:prstGeom prst="roundRect">
            <a:avLst>
              <a:gd name="adj" fmla="val 5161"/>
            </a:avLst>
          </a:prstGeom>
          <a:solidFill>
            <a:srgbClr val="F4F7FD"/>
          </a:solidFill>
          <a:ln/>
        </p:spPr>
      </p:sp>
      <p:sp>
        <p:nvSpPr>
          <p:cNvPr id="6" name="Text 4"/>
          <p:cNvSpPr/>
          <p:nvPr/>
        </p:nvSpPr>
        <p:spPr>
          <a:xfrm>
            <a:off x="7589520" y="1344168"/>
            <a:ext cx="1371600" cy="914400"/>
          </a:xfrm>
          <a:prstGeom prst="rect">
            <a:avLst/>
          </a:prstGeom>
          <a:noFill/>
          <a:ln/>
        </p:spPr>
        <p:txBody>
          <a:bodyPr wrap="square" rtlCol="0" anchor="ctr"/>
          <a:lstStyle/>
          <a:p>
            <a:pPr indent="0" marL="0">
              <a:buNone/>
            </a:pPr>
            <a:r>
              <a:rPr lang="en-US" sz="4400" b="1" dirty="0">
                <a:solidFill>
                  <a:srgbClr val="1E2761"/>
                </a:solidFill>
                <a:latin typeface="Cambria" pitchFamily="34" charset="0"/>
                <a:ea typeface="Cambria" pitchFamily="34" charset="-122"/>
                <a:cs typeface="Cambria" pitchFamily="34" charset="-120"/>
              </a:rPr>
              <a:t>12</a:t>
            </a:r>
            <a:endParaRPr lang="en-US" sz="4400" dirty="0"/>
          </a:p>
        </p:txBody>
      </p:sp>
      <p:sp>
        <p:nvSpPr>
          <p:cNvPr id="7" name="Text 5"/>
          <p:cNvSpPr/>
          <p:nvPr/>
        </p:nvSpPr>
        <p:spPr>
          <a:xfrm>
            <a:off x="8915400" y="1399032"/>
            <a:ext cx="2606040" cy="914400"/>
          </a:xfrm>
          <a:prstGeom prst="rect">
            <a:avLst/>
          </a:prstGeom>
          <a:noFill/>
          <a:ln/>
        </p:spPr>
        <p:txBody>
          <a:bodyPr wrap="square" rtlCol="0" anchor="ctr"/>
          <a:lstStyle/>
          <a:p>
            <a:pPr indent="0" marL="0">
              <a:lnSpc>
                <a:spcPct val="115000"/>
              </a:lnSpc>
              <a:buNone/>
            </a:pPr>
            <a:r>
              <a:rPr lang="en-US" sz="1200" dirty="0">
                <a:solidFill>
                  <a:srgbClr val="5C6B8A"/>
                </a:solidFill>
                <a:latin typeface="Calibri" pitchFamily="34" charset="0"/>
                <a:ea typeface="Calibri" pitchFamily="34" charset="-122"/>
                <a:cs typeface="Calibri" pitchFamily="34" charset="-120"/>
              </a:rPr>
              <a:t>Month programme</a:t>
            </a:r>
            <a:endParaRPr lang="en-US" sz="1200" dirty="0"/>
          </a:p>
          <a:p>
            <a:pPr indent="0" marL="0">
              <a:lnSpc>
                <a:spcPct val="115000"/>
              </a:lnSpc>
              <a:buNone/>
            </a:pPr>
            <a:r>
              <a:rPr lang="en-US" sz="1200" dirty="0">
                <a:solidFill>
                  <a:srgbClr val="5C6B8A"/>
                </a:solidFill>
                <a:latin typeface="Calibri" pitchFamily="34" charset="0"/>
                <a:ea typeface="Calibri" pitchFamily="34" charset="-122"/>
                <a:cs typeface="Calibri" pitchFamily="34" charset="-120"/>
              </a:rPr>
              <a:t>from Foundation to Cutover</a:t>
            </a:r>
            <a:endParaRPr lang="en-US" sz="1200" dirty="0"/>
          </a:p>
        </p:txBody>
      </p:sp>
      <p:sp>
        <p:nvSpPr>
          <p:cNvPr id="8" name="Shape 6"/>
          <p:cNvSpPr/>
          <p:nvPr/>
        </p:nvSpPr>
        <p:spPr>
          <a:xfrm>
            <a:off x="7360920" y="2862072"/>
            <a:ext cx="4251960" cy="1417320"/>
          </a:xfrm>
          <a:prstGeom prst="roundRect">
            <a:avLst>
              <a:gd name="adj" fmla="val 5161"/>
            </a:avLst>
          </a:prstGeom>
          <a:solidFill>
            <a:srgbClr val="F4F7FD"/>
          </a:solidFill>
          <a:ln/>
        </p:spPr>
      </p:sp>
      <p:sp>
        <p:nvSpPr>
          <p:cNvPr id="9" name="Text 7"/>
          <p:cNvSpPr/>
          <p:nvPr/>
        </p:nvSpPr>
        <p:spPr>
          <a:xfrm>
            <a:off x="7589520" y="2971800"/>
            <a:ext cx="1371600" cy="914400"/>
          </a:xfrm>
          <a:prstGeom prst="rect">
            <a:avLst/>
          </a:prstGeom>
          <a:noFill/>
          <a:ln/>
        </p:spPr>
        <p:txBody>
          <a:bodyPr wrap="square" rtlCol="0" anchor="ctr"/>
          <a:lstStyle/>
          <a:p>
            <a:pPr indent="0" marL="0">
              <a:buNone/>
            </a:pPr>
            <a:r>
              <a:rPr lang="en-US" sz="4400" b="1" dirty="0">
                <a:solidFill>
                  <a:srgbClr val="1E2761"/>
                </a:solidFill>
                <a:latin typeface="Cambria" pitchFamily="34" charset="0"/>
                <a:ea typeface="Cambria" pitchFamily="34" charset="-122"/>
                <a:cs typeface="Cambria" pitchFamily="34" charset="-120"/>
              </a:rPr>
              <a:t>5</a:t>
            </a:r>
            <a:endParaRPr lang="en-US" sz="4400" dirty="0"/>
          </a:p>
        </p:txBody>
      </p:sp>
      <p:sp>
        <p:nvSpPr>
          <p:cNvPr id="10" name="Text 8"/>
          <p:cNvSpPr/>
          <p:nvPr/>
        </p:nvSpPr>
        <p:spPr>
          <a:xfrm>
            <a:off x="8915400" y="3026664"/>
            <a:ext cx="2606040" cy="914400"/>
          </a:xfrm>
          <a:prstGeom prst="rect">
            <a:avLst/>
          </a:prstGeom>
          <a:noFill/>
          <a:ln/>
        </p:spPr>
        <p:txBody>
          <a:bodyPr wrap="square" rtlCol="0" anchor="ctr"/>
          <a:lstStyle/>
          <a:p>
            <a:pPr indent="0" marL="0">
              <a:lnSpc>
                <a:spcPct val="115000"/>
              </a:lnSpc>
              <a:buNone/>
            </a:pPr>
            <a:r>
              <a:rPr lang="en-US" sz="1200" dirty="0">
                <a:solidFill>
                  <a:srgbClr val="5C6B8A"/>
                </a:solidFill>
                <a:latin typeface="Calibri" pitchFamily="34" charset="0"/>
                <a:ea typeface="Calibri" pitchFamily="34" charset="-122"/>
                <a:cs typeface="Calibri" pitchFamily="34" charset="-120"/>
              </a:rPr>
              <a:t>Core modules in scope</a:t>
            </a:r>
            <a:endParaRPr lang="en-US" sz="1200" dirty="0"/>
          </a:p>
          <a:p>
            <a:pPr indent="0" marL="0">
              <a:lnSpc>
                <a:spcPct val="115000"/>
              </a:lnSpc>
              <a:buNone/>
            </a:pPr>
            <a:r>
              <a:rPr lang="en-US" sz="1200" dirty="0">
                <a:solidFill>
                  <a:srgbClr val="5C6B8A"/>
                </a:solidFill>
                <a:latin typeface="Calibri" pitchFamily="34" charset="0"/>
                <a:ea typeface="Calibri" pitchFamily="34" charset="-122"/>
                <a:cs typeface="Calibri" pitchFamily="34" charset="-120"/>
              </a:rPr>
              <a:t>for Day One go live</a:t>
            </a:r>
            <a:endParaRPr lang="en-US" sz="1200" dirty="0"/>
          </a:p>
        </p:txBody>
      </p:sp>
      <p:sp>
        <p:nvSpPr>
          <p:cNvPr id="11" name="Shape 9"/>
          <p:cNvSpPr/>
          <p:nvPr/>
        </p:nvSpPr>
        <p:spPr>
          <a:xfrm>
            <a:off x="7360920" y="4489704"/>
            <a:ext cx="4251960" cy="1417320"/>
          </a:xfrm>
          <a:prstGeom prst="roundRect">
            <a:avLst>
              <a:gd name="adj" fmla="val 5161"/>
            </a:avLst>
          </a:prstGeom>
          <a:solidFill>
            <a:srgbClr val="F4F7FD"/>
          </a:solidFill>
          <a:ln/>
        </p:spPr>
      </p:sp>
      <p:sp>
        <p:nvSpPr>
          <p:cNvPr id="12" name="Text 10"/>
          <p:cNvSpPr/>
          <p:nvPr/>
        </p:nvSpPr>
        <p:spPr>
          <a:xfrm>
            <a:off x="7589520" y="4599432"/>
            <a:ext cx="1371600" cy="914400"/>
          </a:xfrm>
          <a:prstGeom prst="rect">
            <a:avLst/>
          </a:prstGeom>
          <a:noFill/>
          <a:ln/>
        </p:spPr>
        <p:txBody>
          <a:bodyPr wrap="square" rtlCol="0" anchor="ctr"/>
          <a:lstStyle/>
          <a:p>
            <a:pPr indent="0" marL="0">
              <a:buNone/>
            </a:pPr>
            <a:r>
              <a:rPr lang="en-US" sz="4400" b="1" dirty="0">
                <a:solidFill>
                  <a:srgbClr val="1E2761"/>
                </a:solidFill>
                <a:latin typeface="Cambria" pitchFamily="34" charset="0"/>
                <a:ea typeface="Cambria" pitchFamily="34" charset="-122"/>
                <a:cs typeface="Cambria" pitchFamily="34" charset="-120"/>
              </a:rPr>
              <a:t>2</a:t>
            </a:r>
            <a:endParaRPr lang="en-US" sz="4400" dirty="0"/>
          </a:p>
        </p:txBody>
      </p:sp>
      <p:sp>
        <p:nvSpPr>
          <p:cNvPr id="13" name="Text 11"/>
          <p:cNvSpPr/>
          <p:nvPr/>
        </p:nvSpPr>
        <p:spPr>
          <a:xfrm>
            <a:off x="8915400" y="4654296"/>
            <a:ext cx="2606040" cy="914400"/>
          </a:xfrm>
          <a:prstGeom prst="rect">
            <a:avLst/>
          </a:prstGeom>
          <a:noFill/>
          <a:ln/>
        </p:spPr>
        <p:txBody>
          <a:bodyPr wrap="square" rtlCol="0" anchor="ctr"/>
          <a:lstStyle/>
          <a:p>
            <a:pPr indent="0" marL="0">
              <a:lnSpc>
                <a:spcPct val="115000"/>
              </a:lnSpc>
              <a:buNone/>
            </a:pPr>
            <a:r>
              <a:rPr lang="en-US" sz="1200" dirty="0">
                <a:solidFill>
                  <a:srgbClr val="5C6B8A"/>
                </a:solidFill>
                <a:latin typeface="Calibri" pitchFamily="34" charset="0"/>
                <a:ea typeface="Calibri" pitchFamily="34" charset="-122"/>
                <a:cs typeface="Calibri" pitchFamily="34" charset="-120"/>
              </a:rPr>
              <a:t>Phases, with CRM and HRIS</a:t>
            </a:r>
            <a:endParaRPr lang="en-US" sz="1200" dirty="0"/>
          </a:p>
          <a:p>
            <a:pPr indent="0" marL="0">
              <a:lnSpc>
                <a:spcPct val="115000"/>
              </a:lnSpc>
              <a:buNone/>
            </a:pPr>
            <a:r>
              <a:rPr lang="en-US" sz="1200" dirty="0">
                <a:solidFill>
                  <a:srgbClr val="5C6B8A"/>
                </a:solidFill>
                <a:latin typeface="Calibri" pitchFamily="34" charset="0"/>
                <a:ea typeface="Calibri" pitchFamily="34" charset="-122"/>
                <a:cs typeface="Calibri" pitchFamily="34" charset="-120"/>
              </a:rPr>
              <a:t>moved to Phase Two</a:t>
            </a:r>
            <a:endParaRPr lang="en-US" sz="1200" dirty="0"/>
          </a:p>
        </p:txBody>
      </p:sp>
      <p:sp>
        <p:nvSpPr>
          <p:cNvPr id="14" name="Text 12"/>
          <p:cNvSpPr/>
          <p:nvPr/>
        </p:nvSpPr>
        <p:spPr>
          <a:xfrm>
            <a:off x="457200" y="6473952"/>
            <a:ext cx="7772400" cy="274320"/>
          </a:xfrm>
          <a:prstGeom prst="rect">
            <a:avLst/>
          </a:prstGeom>
          <a:noFill/>
          <a:ln/>
        </p:spPr>
        <p:txBody>
          <a:bodyPr wrap="square" rtlCol="0" anchor="ctr"/>
          <a:lstStyle/>
          <a:p>
            <a:pPr algn="l" indent="0" marL="0">
              <a:buNone/>
            </a:pPr>
            <a:r>
              <a:rPr lang="en-US" sz="900" dirty="0">
                <a:solidFill>
                  <a:srgbClr val="5C6B8A"/>
                </a:solidFill>
                <a:latin typeface="Calibri" pitchFamily="34" charset="0"/>
                <a:ea typeface="Calibri" pitchFamily="34" charset="-122"/>
                <a:cs typeface="Calibri" pitchFamily="34" charset="-120"/>
              </a:rPr>
              <a:t>Alpha Manufacturing Group  |  ERP Transformation Programme</a:t>
            </a:r>
            <a:endParaRPr lang="en-US" sz="900" dirty="0"/>
          </a:p>
        </p:txBody>
      </p:sp>
      <p:sp>
        <p:nvSpPr>
          <p:cNvPr id="15" name="Text 13"/>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C6B8A"/>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54864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Why the Current System Falls Short</a:t>
            </a:r>
            <a:endParaRPr lang="en-US" sz="2800" dirty="0"/>
          </a:p>
        </p:txBody>
      </p:sp>
      <p:sp>
        <p:nvSpPr>
          <p:cNvPr id="3" name="Text 1"/>
          <p:cNvSpPr/>
          <p:nvPr/>
        </p:nvSpPr>
        <p:spPr>
          <a:xfrm>
            <a:off x="548640" y="960120"/>
            <a:ext cx="10515600" cy="457200"/>
          </a:xfrm>
          <a:prstGeom prst="rect">
            <a:avLst/>
          </a:prstGeom>
          <a:noFill/>
          <a:ln/>
        </p:spPr>
        <p:txBody>
          <a:bodyPr wrap="square" rtlCol="0" anchor="ctr"/>
          <a:lstStyle/>
          <a:p>
            <a:pPr indent="0" marL="0">
              <a:buNone/>
            </a:pPr>
            <a:r>
              <a:rPr lang="en-US" sz="1400" i="1" dirty="0">
                <a:solidFill>
                  <a:srgbClr val="5C6B8A"/>
                </a:solidFill>
                <a:latin typeface="Calibri" pitchFamily="34" charset="0"/>
                <a:ea typeface="Calibri" pitchFamily="34" charset="-122"/>
                <a:cs typeface="Calibri" pitchFamily="34" charset="-120"/>
              </a:rPr>
              <a:t>The core issue is not an ageing platform. It is the lack of integration between critical business functions.</a:t>
            </a:r>
            <a:endParaRPr lang="en-US" sz="1400" dirty="0"/>
          </a:p>
        </p:txBody>
      </p:sp>
      <p:sp>
        <p:nvSpPr>
          <p:cNvPr id="4" name="Shape 2"/>
          <p:cNvSpPr/>
          <p:nvPr/>
        </p:nvSpPr>
        <p:spPr>
          <a:xfrm>
            <a:off x="548640" y="1783080"/>
            <a:ext cx="566928" cy="566928"/>
          </a:xfrm>
          <a:prstGeom prst="ellipse">
            <a:avLst/>
          </a:prstGeom>
          <a:solidFill>
            <a:srgbClr val="1E2761"/>
          </a:solidFill>
          <a:ln/>
        </p:spPr>
      </p:sp>
      <p:pic>
        <p:nvPicPr>
          <p:cNvPr id="5" name="Image 0" descr="icon_chart_FFFFFF.png">    </p:cNvPr>
          <p:cNvPicPr>
            <a:picLocks noChangeAspect="1"/>
          </p:cNvPicPr>
          <p:nvPr/>
        </p:nvPicPr>
        <p:blipFill>
          <a:blip r:embed="rId1"/>
          <a:stretch>
            <a:fillRect/>
          </a:stretch>
        </p:blipFill>
        <p:spPr>
          <a:xfrm>
            <a:off x="676656" y="1911096"/>
            <a:ext cx="310896" cy="310896"/>
          </a:xfrm>
          <a:prstGeom prst="rect">
            <a:avLst/>
          </a:prstGeom>
        </p:spPr>
      </p:pic>
      <p:sp>
        <p:nvSpPr>
          <p:cNvPr id="6" name="Text 3"/>
          <p:cNvSpPr/>
          <p:nvPr/>
        </p:nvSpPr>
        <p:spPr>
          <a:xfrm>
            <a:off x="1298448" y="1755648"/>
            <a:ext cx="4251960" cy="457200"/>
          </a:xfrm>
          <a:prstGeom prst="rect">
            <a:avLst/>
          </a:prstGeom>
          <a:noFill/>
          <a:ln/>
        </p:spPr>
        <p:txBody>
          <a:bodyPr wrap="square"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Limited financial visibility</a:t>
            </a:r>
            <a:endParaRPr lang="en-US" sz="1600" dirty="0"/>
          </a:p>
        </p:txBody>
      </p:sp>
      <p:sp>
        <p:nvSpPr>
          <p:cNvPr id="7" name="Text 4"/>
          <p:cNvSpPr/>
          <p:nvPr/>
        </p:nvSpPr>
        <p:spPr>
          <a:xfrm>
            <a:off x="1298448" y="2221992"/>
            <a:ext cx="4251960" cy="1005840"/>
          </a:xfrm>
          <a:prstGeom prst="rect">
            <a:avLst/>
          </a:prstGeom>
          <a:noFill/>
          <a:ln/>
        </p:spPr>
        <p:txBody>
          <a:bodyPr wrap="square" rtlCol="0" anchor="ctr"/>
          <a:lstStyle/>
          <a:p>
            <a:pPr indent="0" marL="0">
              <a:lnSpc>
                <a:spcPct val="120000"/>
              </a:lnSpc>
              <a:buNone/>
            </a:pPr>
            <a:r>
              <a:rPr lang="en-US" sz="1250" dirty="0">
                <a:solidFill>
                  <a:srgbClr val="1F2430"/>
                </a:solidFill>
                <a:latin typeface="Calibri" pitchFamily="34" charset="0"/>
                <a:ea typeface="Calibri" pitchFamily="34" charset="-122"/>
                <a:cs typeface="Calibri" pitchFamily="34" charset="-120"/>
              </a:rPr>
              <a:t>Contribution margin, production cost, and overall performance data are not available in a timely way.</a:t>
            </a:r>
            <a:endParaRPr lang="en-US" sz="1250" dirty="0"/>
          </a:p>
        </p:txBody>
      </p:sp>
      <p:sp>
        <p:nvSpPr>
          <p:cNvPr id="8" name="Shape 5"/>
          <p:cNvSpPr/>
          <p:nvPr/>
        </p:nvSpPr>
        <p:spPr>
          <a:xfrm>
            <a:off x="6080760" y="1783080"/>
            <a:ext cx="566928" cy="566928"/>
          </a:xfrm>
          <a:prstGeom prst="ellipse">
            <a:avLst/>
          </a:prstGeom>
          <a:solidFill>
            <a:srgbClr val="1E2761"/>
          </a:solidFill>
          <a:ln/>
        </p:spPr>
      </p:sp>
      <p:pic>
        <p:nvPicPr>
          <p:cNvPr id="9" name="Image 1" descr="icon_branch_FFFFFF.png">    </p:cNvPr>
          <p:cNvPicPr>
            <a:picLocks noChangeAspect="1"/>
          </p:cNvPicPr>
          <p:nvPr/>
        </p:nvPicPr>
        <p:blipFill>
          <a:blip r:embed="rId2"/>
          <a:stretch>
            <a:fillRect/>
          </a:stretch>
        </p:blipFill>
        <p:spPr>
          <a:xfrm>
            <a:off x="6208776" y="1911096"/>
            <a:ext cx="310896" cy="310896"/>
          </a:xfrm>
          <a:prstGeom prst="rect">
            <a:avLst/>
          </a:prstGeom>
        </p:spPr>
      </p:pic>
      <p:sp>
        <p:nvSpPr>
          <p:cNvPr id="10" name="Text 6"/>
          <p:cNvSpPr/>
          <p:nvPr/>
        </p:nvSpPr>
        <p:spPr>
          <a:xfrm>
            <a:off x="6830568" y="1755648"/>
            <a:ext cx="4251960" cy="457200"/>
          </a:xfrm>
          <a:prstGeom prst="rect">
            <a:avLst/>
          </a:prstGeom>
          <a:noFill/>
          <a:ln/>
        </p:spPr>
        <p:txBody>
          <a:bodyPr wrap="square"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Disconnected engineering changes</a:t>
            </a:r>
            <a:endParaRPr lang="en-US" sz="1600" dirty="0"/>
          </a:p>
        </p:txBody>
      </p:sp>
      <p:sp>
        <p:nvSpPr>
          <p:cNvPr id="11" name="Text 7"/>
          <p:cNvSpPr/>
          <p:nvPr/>
        </p:nvSpPr>
        <p:spPr>
          <a:xfrm>
            <a:off x="6830568" y="2221992"/>
            <a:ext cx="4251960" cy="1005840"/>
          </a:xfrm>
          <a:prstGeom prst="rect">
            <a:avLst/>
          </a:prstGeom>
          <a:noFill/>
          <a:ln/>
        </p:spPr>
        <p:txBody>
          <a:bodyPr wrap="square" rtlCol="0" anchor="ctr"/>
          <a:lstStyle/>
          <a:p>
            <a:pPr indent="0" marL="0">
              <a:lnSpc>
                <a:spcPct val="120000"/>
              </a:lnSpc>
              <a:buNone/>
            </a:pPr>
            <a:r>
              <a:rPr lang="en-US" sz="1250" dirty="0">
                <a:solidFill>
                  <a:srgbClr val="1F2430"/>
                </a:solidFill>
                <a:latin typeface="Calibri" pitchFamily="34" charset="0"/>
                <a:ea typeface="Calibri" pitchFamily="34" charset="-122"/>
                <a:cs typeface="Calibri" pitchFamily="34" charset="-120"/>
              </a:rPr>
              <a:t>Engineering changes are not consistently reflected in production costs across the business.</a:t>
            </a:r>
            <a:endParaRPr lang="en-US" sz="1250" dirty="0"/>
          </a:p>
        </p:txBody>
      </p:sp>
      <p:sp>
        <p:nvSpPr>
          <p:cNvPr id="12" name="Shape 8"/>
          <p:cNvSpPr/>
          <p:nvPr/>
        </p:nvSpPr>
        <p:spPr>
          <a:xfrm>
            <a:off x="548640" y="3931920"/>
            <a:ext cx="566928" cy="566928"/>
          </a:xfrm>
          <a:prstGeom prst="ellipse">
            <a:avLst/>
          </a:prstGeom>
          <a:solidFill>
            <a:srgbClr val="1E2761"/>
          </a:solidFill>
          <a:ln/>
        </p:spPr>
      </p:sp>
      <p:pic>
        <p:nvPicPr>
          <p:cNvPr id="13" name="Image 2" descr="icon_layers_FFFFFF.png">    </p:cNvPr>
          <p:cNvPicPr>
            <a:picLocks noChangeAspect="1"/>
          </p:cNvPicPr>
          <p:nvPr/>
        </p:nvPicPr>
        <p:blipFill>
          <a:blip r:embed="rId3"/>
          <a:stretch>
            <a:fillRect/>
          </a:stretch>
        </p:blipFill>
        <p:spPr>
          <a:xfrm>
            <a:off x="676656" y="4059936"/>
            <a:ext cx="310896" cy="310896"/>
          </a:xfrm>
          <a:prstGeom prst="rect">
            <a:avLst/>
          </a:prstGeom>
        </p:spPr>
      </p:pic>
      <p:sp>
        <p:nvSpPr>
          <p:cNvPr id="14" name="Text 9"/>
          <p:cNvSpPr/>
          <p:nvPr/>
        </p:nvSpPr>
        <p:spPr>
          <a:xfrm>
            <a:off x="1298448" y="3904488"/>
            <a:ext cx="4251960" cy="457200"/>
          </a:xfrm>
          <a:prstGeom prst="rect">
            <a:avLst/>
          </a:prstGeom>
          <a:noFill/>
          <a:ln/>
        </p:spPr>
        <p:txBody>
          <a:bodyPr wrap="square"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Fragmented BOM management</a:t>
            </a:r>
            <a:endParaRPr lang="en-US" sz="1600" dirty="0"/>
          </a:p>
        </p:txBody>
      </p:sp>
      <p:sp>
        <p:nvSpPr>
          <p:cNvPr id="15" name="Text 10"/>
          <p:cNvSpPr/>
          <p:nvPr/>
        </p:nvSpPr>
        <p:spPr>
          <a:xfrm>
            <a:off x="1298448" y="4370832"/>
            <a:ext cx="4251960" cy="1005840"/>
          </a:xfrm>
          <a:prstGeom prst="rect">
            <a:avLst/>
          </a:prstGeom>
          <a:noFill/>
          <a:ln/>
        </p:spPr>
        <p:txBody>
          <a:bodyPr wrap="square" rtlCol="0" anchor="ctr"/>
          <a:lstStyle/>
          <a:p>
            <a:pPr indent="0" marL="0">
              <a:lnSpc>
                <a:spcPct val="120000"/>
              </a:lnSpc>
              <a:buNone/>
            </a:pPr>
            <a:r>
              <a:rPr lang="en-US" sz="1250" dirty="0">
                <a:solidFill>
                  <a:srgbClr val="1F2430"/>
                </a:solidFill>
                <a:latin typeface="Calibri" pitchFamily="34" charset="0"/>
                <a:ea typeface="Calibri" pitchFamily="34" charset="-122"/>
                <a:cs typeface="Calibri" pitchFamily="34" charset="-120"/>
              </a:rPr>
              <a:t>Bill of materials data is maintained inconsistently between Engineering and Manufacturing.</a:t>
            </a:r>
            <a:endParaRPr lang="en-US" sz="1250" dirty="0"/>
          </a:p>
        </p:txBody>
      </p:sp>
      <p:sp>
        <p:nvSpPr>
          <p:cNvPr id="16" name="Shape 11"/>
          <p:cNvSpPr/>
          <p:nvPr/>
        </p:nvSpPr>
        <p:spPr>
          <a:xfrm>
            <a:off x="6080760" y="3931920"/>
            <a:ext cx="566928" cy="566928"/>
          </a:xfrm>
          <a:prstGeom prst="ellipse">
            <a:avLst/>
          </a:prstGeom>
          <a:solidFill>
            <a:srgbClr val="1E2761"/>
          </a:solidFill>
          <a:ln/>
        </p:spPr>
      </p:sp>
      <p:pic>
        <p:nvPicPr>
          <p:cNvPr id="17" name="Image 3" descr="icon_alert_FFFFFF.png">    </p:cNvPr>
          <p:cNvPicPr>
            <a:picLocks noChangeAspect="1"/>
          </p:cNvPicPr>
          <p:nvPr/>
        </p:nvPicPr>
        <p:blipFill>
          <a:blip r:embed="rId4"/>
          <a:stretch>
            <a:fillRect/>
          </a:stretch>
        </p:blipFill>
        <p:spPr>
          <a:xfrm>
            <a:off x="6208776" y="4059936"/>
            <a:ext cx="310896" cy="310896"/>
          </a:xfrm>
          <a:prstGeom prst="rect">
            <a:avLst/>
          </a:prstGeom>
        </p:spPr>
      </p:pic>
      <p:sp>
        <p:nvSpPr>
          <p:cNvPr id="18" name="Text 12"/>
          <p:cNvSpPr/>
          <p:nvPr/>
        </p:nvSpPr>
        <p:spPr>
          <a:xfrm>
            <a:off x="6830568" y="3904488"/>
            <a:ext cx="4251960" cy="457200"/>
          </a:xfrm>
          <a:prstGeom prst="rect">
            <a:avLst/>
          </a:prstGeom>
          <a:noFill/>
          <a:ln/>
        </p:spPr>
        <p:txBody>
          <a:bodyPr wrap="square"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Unreliable financial reporting</a:t>
            </a:r>
            <a:endParaRPr lang="en-US" sz="1600" dirty="0"/>
          </a:p>
        </p:txBody>
      </p:sp>
      <p:sp>
        <p:nvSpPr>
          <p:cNvPr id="19" name="Text 13"/>
          <p:cNvSpPr/>
          <p:nvPr/>
        </p:nvSpPr>
        <p:spPr>
          <a:xfrm>
            <a:off x="6830568" y="4370832"/>
            <a:ext cx="4251960" cy="1005840"/>
          </a:xfrm>
          <a:prstGeom prst="rect">
            <a:avLst/>
          </a:prstGeom>
          <a:noFill/>
          <a:ln/>
        </p:spPr>
        <p:txBody>
          <a:bodyPr wrap="square" rtlCol="0" anchor="ctr"/>
          <a:lstStyle/>
          <a:p>
            <a:pPr indent="0" marL="0">
              <a:lnSpc>
                <a:spcPct val="120000"/>
              </a:lnSpc>
              <a:buNone/>
            </a:pPr>
            <a:r>
              <a:rPr lang="en-US" sz="1250" dirty="0">
                <a:solidFill>
                  <a:srgbClr val="1F2430"/>
                </a:solidFill>
                <a:latin typeface="Calibri" pitchFamily="34" charset="0"/>
                <a:ea typeface="Calibri" pitchFamily="34" charset="-122"/>
                <a:cs typeface="Calibri" pitchFamily="34" charset="-120"/>
              </a:rPr>
              <a:t>Reporting does not always give an accurate picture of operational performance.</a:t>
            </a:r>
            <a:endParaRPr lang="en-US" sz="1250" dirty="0"/>
          </a:p>
        </p:txBody>
      </p:sp>
      <p:sp>
        <p:nvSpPr>
          <p:cNvPr id="20" name="Text 14"/>
          <p:cNvSpPr/>
          <p:nvPr/>
        </p:nvSpPr>
        <p:spPr>
          <a:xfrm>
            <a:off x="457200" y="6473952"/>
            <a:ext cx="7772400" cy="274320"/>
          </a:xfrm>
          <a:prstGeom prst="rect">
            <a:avLst/>
          </a:prstGeom>
          <a:noFill/>
          <a:ln/>
        </p:spPr>
        <p:txBody>
          <a:bodyPr wrap="square" rtlCol="0" anchor="ctr"/>
          <a:lstStyle/>
          <a:p>
            <a:pPr algn="l" indent="0" marL="0">
              <a:buNone/>
            </a:pPr>
            <a:r>
              <a:rPr lang="en-US" sz="900" dirty="0">
                <a:solidFill>
                  <a:srgbClr val="5C6B8A"/>
                </a:solidFill>
                <a:latin typeface="Calibri" pitchFamily="34" charset="0"/>
                <a:ea typeface="Calibri" pitchFamily="34" charset="-122"/>
                <a:cs typeface="Calibri" pitchFamily="34" charset="-120"/>
              </a:rPr>
              <a:t>Alpha Manufacturing Group  |  ERP Transformation Programme</a:t>
            </a:r>
            <a:endParaRPr lang="en-US" sz="900" dirty="0"/>
          </a:p>
        </p:txBody>
      </p:sp>
      <p:sp>
        <p:nvSpPr>
          <p:cNvPr id="21" name="Text 15"/>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C6B8A"/>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457200"/>
            <a:ext cx="9144000" cy="54864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Strategic Objectives</a:t>
            </a:r>
            <a:endParaRPr lang="en-US" sz="2800" dirty="0"/>
          </a:p>
        </p:txBody>
      </p:sp>
      <p:sp>
        <p:nvSpPr>
          <p:cNvPr id="3" name="Text 1"/>
          <p:cNvSpPr/>
          <p:nvPr/>
        </p:nvSpPr>
        <p:spPr>
          <a:xfrm>
            <a:off x="548640" y="1005840"/>
            <a:ext cx="10058400" cy="411480"/>
          </a:xfrm>
          <a:prstGeom prst="rect">
            <a:avLst/>
          </a:prstGeom>
          <a:noFill/>
          <a:ln/>
        </p:spPr>
        <p:txBody>
          <a:bodyPr wrap="square" rtlCol="0" anchor="ctr"/>
          <a:lstStyle/>
          <a:p>
            <a:pPr indent="0" marL="0">
              <a:buNone/>
            </a:pPr>
            <a:r>
              <a:rPr lang="en-US" sz="1400" dirty="0">
                <a:solidFill>
                  <a:srgbClr val="CADCFC"/>
                </a:solidFill>
                <a:latin typeface="Calibri" pitchFamily="34" charset="0"/>
                <a:ea typeface="Calibri" pitchFamily="34" charset="-122"/>
                <a:cs typeface="Calibri" pitchFamily="34" charset="-120"/>
              </a:rPr>
              <a:t>Four objectives will guide the programme from Foundation through Cutover.</a:t>
            </a:r>
            <a:endParaRPr lang="en-US" sz="1400" dirty="0"/>
          </a:p>
        </p:txBody>
      </p:sp>
      <p:sp>
        <p:nvSpPr>
          <p:cNvPr id="4" name="Shape 2"/>
          <p:cNvSpPr/>
          <p:nvPr/>
        </p:nvSpPr>
        <p:spPr>
          <a:xfrm>
            <a:off x="548640" y="1874520"/>
            <a:ext cx="5074920" cy="1783080"/>
          </a:xfrm>
          <a:prstGeom prst="roundRect">
            <a:avLst>
              <a:gd name="adj" fmla="val 4103"/>
            </a:avLst>
          </a:prstGeom>
          <a:solidFill>
            <a:srgbClr val="26305F"/>
          </a:solidFill>
          <a:ln/>
        </p:spPr>
      </p:sp>
      <p:sp>
        <p:nvSpPr>
          <p:cNvPr id="5" name="Shape 3"/>
          <p:cNvSpPr/>
          <p:nvPr/>
        </p:nvSpPr>
        <p:spPr>
          <a:xfrm>
            <a:off x="804672" y="2130552"/>
            <a:ext cx="548640" cy="548640"/>
          </a:xfrm>
          <a:prstGeom prst="ellipse">
            <a:avLst/>
          </a:prstGeom>
          <a:solidFill>
            <a:srgbClr val="CADCFC"/>
          </a:solidFill>
          <a:ln/>
        </p:spPr>
      </p:sp>
      <p:pic>
        <p:nvPicPr>
          <p:cNvPr id="6" name="Image 0" descr="icon_trending_1E2761.png">    </p:cNvPr>
          <p:cNvPicPr>
            <a:picLocks noChangeAspect="1"/>
          </p:cNvPicPr>
          <p:nvPr/>
        </p:nvPicPr>
        <p:blipFill>
          <a:blip r:embed="rId1"/>
          <a:stretch>
            <a:fillRect/>
          </a:stretch>
        </p:blipFill>
        <p:spPr>
          <a:xfrm>
            <a:off x="932688" y="2258568"/>
            <a:ext cx="292608" cy="292608"/>
          </a:xfrm>
          <a:prstGeom prst="rect">
            <a:avLst/>
          </a:prstGeom>
        </p:spPr>
      </p:pic>
      <p:sp>
        <p:nvSpPr>
          <p:cNvPr id="7" name="Text 4"/>
          <p:cNvSpPr/>
          <p:nvPr/>
        </p:nvSpPr>
        <p:spPr>
          <a:xfrm>
            <a:off x="1554480" y="2075688"/>
            <a:ext cx="3886200" cy="1371600"/>
          </a:xfrm>
          <a:prstGeom prst="rect">
            <a:avLst/>
          </a:prstGeom>
          <a:noFill/>
          <a:ln/>
        </p:spPr>
        <p:txBody>
          <a:bodyPr wrap="square" rtlCol="0" anchor="ctr"/>
          <a:lstStyle/>
          <a:p>
            <a:pPr indent="0" marL="0">
              <a:lnSpc>
                <a:spcPct val="120000"/>
              </a:lnSpc>
              <a:buNone/>
            </a:pPr>
            <a:r>
              <a:rPr lang="en-US" sz="1400" dirty="0">
                <a:solidFill>
                  <a:srgbClr val="FFFFFF"/>
                </a:solidFill>
                <a:latin typeface="Calibri" pitchFamily="34" charset="0"/>
                <a:ea typeface="Calibri" pitchFamily="34" charset="-122"/>
                <a:cs typeface="Calibri" pitchFamily="34" charset="-120"/>
              </a:rPr>
              <a:t>Restore accurate contribution margin reporting for every customer order.</a:t>
            </a:r>
            <a:endParaRPr lang="en-US" sz="1400" dirty="0"/>
          </a:p>
        </p:txBody>
      </p:sp>
      <p:sp>
        <p:nvSpPr>
          <p:cNvPr id="8" name="Shape 5"/>
          <p:cNvSpPr/>
          <p:nvPr/>
        </p:nvSpPr>
        <p:spPr>
          <a:xfrm>
            <a:off x="6080760" y="1874520"/>
            <a:ext cx="5074920" cy="1783080"/>
          </a:xfrm>
          <a:prstGeom prst="roundRect">
            <a:avLst>
              <a:gd name="adj" fmla="val 4103"/>
            </a:avLst>
          </a:prstGeom>
          <a:solidFill>
            <a:srgbClr val="26305F"/>
          </a:solidFill>
          <a:ln/>
        </p:spPr>
      </p:sp>
      <p:sp>
        <p:nvSpPr>
          <p:cNvPr id="9" name="Shape 6"/>
          <p:cNvSpPr/>
          <p:nvPr/>
        </p:nvSpPr>
        <p:spPr>
          <a:xfrm>
            <a:off x="6336792" y="2130552"/>
            <a:ext cx="548640" cy="548640"/>
          </a:xfrm>
          <a:prstGeom prst="ellipse">
            <a:avLst/>
          </a:prstGeom>
          <a:solidFill>
            <a:srgbClr val="CADCFC"/>
          </a:solidFill>
          <a:ln/>
        </p:spPr>
      </p:sp>
      <p:pic>
        <p:nvPicPr>
          <p:cNvPr id="10" name="Image 1" descr="icon_layers_1E2761.png">    </p:cNvPr>
          <p:cNvPicPr>
            <a:picLocks noChangeAspect="1"/>
          </p:cNvPicPr>
          <p:nvPr/>
        </p:nvPicPr>
        <p:blipFill>
          <a:blip r:embed="rId2"/>
          <a:stretch>
            <a:fillRect/>
          </a:stretch>
        </p:blipFill>
        <p:spPr>
          <a:xfrm>
            <a:off x="6464808" y="2258568"/>
            <a:ext cx="292608" cy="292608"/>
          </a:xfrm>
          <a:prstGeom prst="rect">
            <a:avLst/>
          </a:prstGeom>
        </p:spPr>
      </p:pic>
      <p:sp>
        <p:nvSpPr>
          <p:cNvPr id="11" name="Text 7"/>
          <p:cNvSpPr/>
          <p:nvPr/>
        </p:nvSpPr>
        <p:spPr>
          <a:xfrm>
            <a:off x="7086600" y="2075688"/>
            <a:ext cx="3886200" cy="1371600"/>
          </a:xfrm>
          <a:prstGeom prst="rect">
            <a:avLst/>
          </a:prstGeom>
          <a:noFill/>
          <a:ln/>
        </p:spPr>
        <p:txBody>
          <a:bodyPr wrap="square" rtlCol="0" anchor="ctr"/>
          <a:lstStyle/>
          <a:p>
            <a:pPr indent="0" marL="0">
              <a:lnSpc>
                <a:spcPct val="120000"/>
              </a:lnSpc>
              <a:buNone/>
            </a:pPr>
            <a:r>
              <a:rPr lang="en-US" sz="1400" dirty="0">
                <a:solidFill>
                  <a:srgbClr val="FFFFFF"/>
                </a:solidFill>
                <a:latin typeface="Calibri" pitchFamily="34" charset="0"/>
                <a:ea typeface="Calibri" pitchFamily="34" charset="-122"/>
                <a:cs typeface="Calibri" pitchFamily="34" charset="-120"/>
              </a:rPr>
              <a:t>Integrate Engineering and Manufacturing through one reliable BOM structure.</a:t>
            </a:r>
            <a:endParaRPr lang="en-US" sz="1400" dirty="0"/>
          </a:p>
        </p:txBody>
      </p:sp>
      <p:sp>
        <p:nvSpPr>
          <p:cNvPr id="12" name="Shape 8"/>
          <p:cNvSpPr/>
          <p:nvPr/>
        </p:nvSpPr>
        <p:spPr>
          <a:xfrm>
            <a:off x="548640" y="3977640"/>
            <a:ext cx="5074920" cy="1783080"/>
          </a:xfrm>
          <a:prstGeom prst="roundRect">
            <a:avLst>
              <a:gd name="adj" fmla="val 4103"/>
            </a:avLst>
          </a:prstGeom>
          <a:solidFill>
            <a:srgbClr val="26305F"/>
          </a:solidFill>
          <a:ln/>
        </p:spPr>
      </p:sp>
      <p:sp>
        <p:nvSpPr>
          <p:cNvPr id="13" name="Shape 9"/>
          <p:cNvSpPr/>
          <p:nvPr/>
        </p:nvSpPr>
        <p:spPr>
          <a:xfrm>
            <a:off x="804672" y="4233672"/>
            <a:ext cx="548640" cy="548640"/>
          </a:xfrm>
          <a:prstGeom prst="ellipse">
            <a:avLst/>
          </a:prstGeom>
          <a:solidFill>
            <a:srgbClr val="CADCFC"/>
          </a:solidFill>
          <a:ln/>
        </p:spPr>
      </p:sp>
      <p:pic>
        <p:nvPicPr>
          <p:cNvPr id="14" name="Image 2" descr="icon_refresh_1E2761.png">    </p:cNvPr>
          <p:cNvPicPr>
            <a:picLocks noChangeAspect="1"/>
          </p:cNvPicPr>
          <p:nvPr/>
        </p:nvPicPr>
        <p:blipFill>
          <a:blip r:embed="rId3"/>
          <a:stretch>
            <a:fillRect/>
          </a:stretch>
        </p:blipFill>
        <p:spPr>
          <a:xfrm>
            <a:off x="932688" y="4361688"/>
            <a:ext cx="292608" cy="292608"/>
          </a:xfrm>
          <a:prstGeom prst="rect">
            <a:avLst/>
          </a:prstGeom>
        </p:spPr>
      </p:pic>
      <p:sp>
        <p:nvSpPr>
          <p:cNvPr id="15" name="Text 10"/>
          <p:cNvSpPr/>
          <p:nvPr/>
        </p:nvSpPr>
        <p:spPr>
          <a:xfrm>
            <a:off x="1554480" y="4178808"/>
            <a:ext cx="3886200" cy="1371600"/>
          </a:xfrm>
          <a:prstGeom prst="rect">
            <a:avLst/>
          </a:prstGeom>
          <a:noFill/>
          <a:ln/>
        </p:spPr>
        <p:txBody>
          <a:bodyPr wrap="square" rtlCol="0" anchor="ctr"/>
          <a:lstStyle/>
          <a:p>
            <a:pPr indent="0" marL="0">
              <a:lnSpc>
                <a:spcPct val="120000"/>
              </a:lnSpc>
              <a:buNone/>
            </a:pPr>
            <a:r>
              <a:rPr lang="en-US" sz="1400" dirty="0">
                <a:solidFill>
                  <a:srgbClr val="FFFFFF"/>
                </a:solidFill>
                <a:latin typeface="Calibri" pitchFamily="34" charset="0"/>
                <a:ea typeface="Calibri" pitchFamily="34" charset="-122"/>
                <a:cs typeface="Calibri" pitchFamily="34" charset="-120"/>
              </a:rPr>
              <a:t>Replace the legacy ERP without interrupting production, deliveries, or finance.</a:t>
            </a:r>
            <a:endParaRPr lang="en-US" sz="1400" dirty="0"/>
          </a:p>
        </p:txBody>
      </p:sp>
      <p:sp>
        <p:nvSpPr>
          <p:cNvPr id="16" name="Shape 11"/>
          <p:cNvSpPr/>
          <p:nvPr/>
        </p:nvSpPr>
        <p:spPr>
          <a:xfrm>
            <a:off x="6080760" y="3977640"/>
            <a:ext cx="5074920" cy="1783080"/>
          </a:xfrm>
          <a:prstGeom prst="roundRect">
            <a:avLst>
              <a:gd name="adj" fmla="val 4103"/>
            </a:avLst>
          </a:prstGeom>
          <a:solidFill>
            <a:srgbClr val="26305F"/>
          </a:solidFill>
          <a:ln/>
        </p:spPr>
      </p:sp>
      <p:sp>
        <p:nvSpPr>
          <p:cNvPr id="17" name="Shape 12"/>
          <p:cNvSpPr/>
          <p:nvPr/>
        </p:nvSpPr>
        <p:spPr>
          <a:xfrm>
            <a:off x="6336792" y="4233672"/>
            <a:ext cx="548640" cy="548640"/>
          </a:xfrm>
          <a:prstGeom prst="ellipse">
            <a:avLst/>
          </a:prstGeom>
          <a:solidFill>
            <a:srgbClr val="CADCFC"/>
          </a:solidFill>
          <a:ln/>
        </p:spPr>
      </p:sp>
      <p:pic>
        <p:nvPicPr>
          <p:cNvPr id="18" name="Image 3" descr="icon_shield_1E2761.png">    </p:cNvPr>
          <p:cNvPicPr>
            <a:picLocks noChangeAspect="1"/>
          </p:cNvPicPr>
          <p:nvPr/>
        </p:nvPicPr>
        <p:blipFill>
          <a:blip r:embed="rId4"/>
          <a:stretch>
            <a:fillRect/>
          </a:stretch>
        </p:blipFill>
        <p:spPr>
          <a:xfrm>
            <a:off x="6464808" y="4361688"/>
            <a:ext cx="292608" cy="292608"/>
          </a:xfrm>
          <a:prstGeom prst="rect">
            <a:avLst/>
          </a:prstGeom>
        </p:spPr>
      </p:pic>
      <p:sp>
        <p:nvSpPr>
          <p:cNvPr id="19" name="Text 13"/>
          <p:cNvSpPr/>
          <p:nvPr/>
        </p:nvSpPr>
        <p:spPr>
          <a:xfrm>
            <a:off x="7086600" y="4178808"/>
            <a:ext cx="3886200" cy="1371600"/>
          </a:xfrm>
          <a:prstGeom prst="rect">
            <a:avLst/>
          </a:prstGeom>
          <a:noFill/>
          <a:ln/>
        </p:spPr>
        <p:txBody>
          <a:bodyPr wrap="square" rtlCol="0" anchor="ctr"/>
          <a:lstStyle/>
          <a:p>
            <a:pPr indent="0" marL="0">
              <a:lnSpc>
                <a:spcPct val="120000"/>
              </a:lnSpc>
              <a:buNone/>
            </a:pPr>
            <a:r>
              <a:rPr lang="en-US" sz="1400" dirty="0">
                <a:solidFill>
                  <a:srgbClr val="FFFFFF"/>
                </a:solidFill>
                <a:latin typeface="Calibri" pitchFamily="34" charset="0"/>
                <a:ea typeface="Calibri" pitchFamily="34" charset="-122"/>
                <a:cs typeface="Calibri" pitchFamily="34" charset="-120"/>
              </a:rPr>
              <a:t>Establish governance that controls scope, data ownership, and customisation.</a:t>
            </a:r>
            <a:endParaRPr lang="en-US" sz="1400" dirty="0"/>
          </a:p>
        </p:txBody>
      </p:sp>
      <p:sp>
        <p:nvSpPr>
          <p:cNvPr id="20" name="Text 14"/>
          <p:cNvSpPr/>
          <p:nvPr/>
        </p:nvSpPr>
        <p:spPr>
          <a:xfrm>
            <a:off x="457200" y="6473952"/>
            <a:ext cx="7772400" cy="274320"/>
          </a:xfrm>
          <a:prstGeom prst="rect">
            <a:avLst/>
          </a:prstGeom>
          <a:noFill/>
          <a:ln/>
        </p:spPr>
        <p:txBody>
          <a:bodyPr wrap="square" rtlCol="0" anchor="ctr"/>
          <a:lstStyle/>
          <a:p>
            <a:pPr algn="l" indent="0" marL="0">
              <a:buNone/>
            </a:pPr>
            <a:r>
              <a:rPr lang="en-US" sz="900" dirty="0">
                <a:solidFill>
                  <a:srgbClr val="CADCFC"/>
                </a:solidFill>
                <a:latin typeface="Calibri" pitchFamily="34" charset="0"/>
                <a:ea typeface="Calibri" pitchFamily="34" charset="-122"/>
                <a:cs typeface="Calibri" pitchFamily="34" charset="-120"/>
              </a:rPr>
              <a:t>Alpha Manufacturing Group  |  ERP Transformation Programme</a:t>
            </a:r>
            <a:endParaRPr lang="en-US" sz="900" dirty="0"/>
          </a:p>
        </p:txBody>
      </p:sp>
      <p:sp>
        <p:nvSpPr>
          <p:cNvPr id="21" name="Text 15"/>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CADCFC"/>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058400" cy="54864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A Phased Implementation Approach</a:t>
            </a:r>
            <a:endParaRPr lang="en-US" sz="2800" dirty="0"/>
          </a:p>
        </p:txBody>
      </p:sp>
      <p:sp>
        <p:nvSpPr>
          <p:cNvPr id="3" name="Text 1"/>
          <p:cNvSpPr/>
          <p:nvPr/>
        </p:nvSpPr>
        <p:spPr>
          <a:xfrm>
            <a:off x="548640" y="960120"/>
            <a:ext cx="10789920" cy="411480"/>
          </a:xfrm>
          <a:prstGeom prst="rect">
            <a:avLst/>
          </a:prstGeom>
          <a:noFill/>
          <a:ln/>
        </p:spPr>
        <p:txBody>
          <a:bodyPr wrap="square" rtlCol="0" anchor="ctr"/>
          <a:lstStyle/>
          <a:p>
            <a:pPr indent="0" marL="0">
              <a:buNone/>
            </a:pPr>
            <a:r>
              <a:rPr lang="en-US" sz="1400" dirty="0">
                <a:solidFill>
                  <a:srgbClr val="5C6B8A"/>
                </a:solidFill>
                <a:latin typeface="Calibri" pitchFamily="34" charset="0"/>
                <a:ea typeface="Calibri" pitchFamily="34" charset="-122"/>
                <a:cs typeface="Calibri" pitchFamily="34" charset="-120"/>
              </a:rPr>
              <a:t>Managed as a business transformation, not a technology replacement, across four structured phases.</a:t>
            </a:r>
            <a:endParaRPr lang="en-US" sz="1400" dirty="0"/>
          </a:p>
        </p:txBody>
      </p:sp>
      <p:sp>
        <p:nvSpPr>
          <p:cNvPr id="4" name="Shape 2"/>
          <p:cNvSpPr/>
          <p:nvPr/>
        </p:nvSpPr>
        <p:spPr>
          <a:xfrm>
            <a:off x="1851660" y="2258568"/>
            <a:ext cx="8586216" cy="0"/>
          </a:xfrm>
          <a:prstGeom prst="line">
            <a:avLst/>
          </a:prstGeom>
          <a:noFill/>
          <a:ln w="25400">
            <a:solidFill>
              <a:srgbClr val="CADCFC"/>
            </a:solidFill>
            <a:prstDash val="solid"/>
          </a:ln>
        </p:spPr>
      </p:sp>
      <p:sp>
        <p:nvSpPr>
          <p:cNvPr id="5" name="Shape 3"/>
          <p:cNvSpPr/>
          <p:nvPr/>
        </p:nvSpPr>
        <p:spPr>
          <a:xfrm>
            <a:off x="1467612" y="1874520"/>
            <a:ext cx="768096" cy="768096"/>
          </a:xfrm>
          <a:prstGeom prst="ellipse">
            <a:avLst/>
          </a:prstGeom>
          <a:solidFill>
            <a:srgbClr val="1E2761"/>
          </a:solidFill>
          <a:ln w="25400">
            <a:solidFill>
              <a:srgbClr val="FFFFFF"/>
            </a:solidFill>
            <a:prstDash val="solid"/>
          </a:ln>
        </p:spPr>
      </p:sp>
      <p:pic>
        <p:nvPicPr>
          <p:cNvPr id="6" name="Image 0" descr="icon_clipboard_FFFFFF.png">    </p:cNvPr>
          <p:cNvPicPr>
            <a:picLocks noChangeAspect="1"/>
          </p:cNvPicPr>
          <p:nvPr/>
        </p:nvPicPr>
        <p:blipFill>
          <a:blip r:embed="rId1"/>
          <a:stretch>
            <a:fillRect/>
          </a:stretch>
        </p:blipFill>
        <p:spPr>
          <a:xfrm>
            <a:off x="1668780" y="2075688"/>
            <a:ext cx="365760" cy="365760"/>
          </a:xfrm>
          <a:prstGeom prst="rect">
            <a:avLst/>
          </a:prstGeom>
        </p:spPr>
      </p:pic>
      <p:sp>
        <p:nvSpPr>
          <p:cNvPr id="7" name="Text 4"/>
          <p:cNvSpPr/>
          <p:nvPr/>
        </p:nvSpPr>
        <p:spPr>
          <a:xfrm>
            <a:off x="548640" y="1828800"/>
            <a:ext cx="2606040" cy="274320"/>
          </a:xfrm>
          <a:prstGeom prst="rect">
            <a:avLst/>
          </a:prstGeom>
          <a:noFill/>
          <a:ln/>
        </p:spPr>
        <p:txBody>
          <a:bodyPr wrap="square" rtlCol="0" anchor="ctr"/>
          <a:lstStyle/>
          <a:p>
            <a:pPr algn="ctr" indent="0" marL="0">
              <a:buNone/>
            </a:pPr>
            <a:r>
              <a:rPr lang="en-US" sz="1000" dirty="0">
                <a:solidFill>
                  <a:srgbClr val="5C6B8A"/>
                </a:solidFill>
                <a:latin typeface="Calibri" pitchFamily="34" charset="0"/>
                <a:ea typeface="Calibri" pitchFamily="34" charset="-122"/>
                <a:cs typeface="Calibri" pitchFamily="34" charset="-120"/>
              </a:rPr>
              <a:t>1</a:t>
            </a:r>
            <a:endParaRPr lang="en-US" sz="1000" dirty="0"/>
          </a:p>
        </p:txBody>
      </p:sp>
      <p:sp>
        <p:nvSpPr>
          <p:cNvPr id="8" name="Shape 5"/>
          <p:cNvSpPr/>
          <p:nvPr/>
        </p:nvSpPr>
        <p:spPr>
          <a:xfrm>
            <a:off x="548640" y="2834640"/>
            <a:ext cx="2606040" cy="2560320"/>
          </a:xfrm>
          <a:prstGeom prst="roundRect">
            <a:avLst>
              <a:gd name="adj" fmla="val 2143"/>
            </a:avLst>
          </a:prstGeom>
          <a:solidFill>
            <a:srgbClr val="F4F7FD"/>
          </a:solidFill>
          <a:ln/>
        </p:spPr>
      </p:sp>
      <p:sp>
        <p:nvSpPr>
          <p:cNvPr id="9" name="Text 6"/>
          <p:cNvSpPr/>
          <p:nvPr/>
        </p:nvSpPr>
        <p:spPr>
          <a:xfrm>
            <a:off x="713232" y="2971800"/>
            <a:ext cx="2276856" cy="365760"/>
          </a:xfrm>
          <a:prstGeom prst="rect">
            <a:avLst/>
          </a:prstGeom>
          <a:noFill/>
          <a:ln/>
        </p:spPr>
        <p:txBody>
          <a:bodyPr wrap="square" rtlCol="0" anchor="ctr"/>
          <a:lstStyle/>
          <a:p>
            <a:pPr algn="ctr" indent="0" marL="0">
              <a:buNone/>
            </a:pPr>
            <a:r>
              <a:rPr lang="en-US" sz="1700" b="1" dirty="0">
                <a:solidFill>
                  <a:srgbClr val="1E2761"/>
                </a:solidFill>
                <a:latin typeface="Cambria" pitchFamily="34" charset="0"/>
                <a:ea typeface="Cambria" pitchFamily="34" charset="-122"/>
                <a:cs typeface="Cambria" pitchFamily="34" charset="-120"/>
              </a:rPr>
              <a:t>Foundation</a:t>
            </a:r>
            <a:endParaRPr lang="en-US" sz="1700" dirty="0"/>
          </a:p>
        </p:txBody>
      </p:sp>
      <p:sp>
        <p:nvSpPr>
          <p:cNvPr id="10" name="Text 7"/>
          <p:cNvSpPr/>
          <p:nvPr/>
        </p:nvSpPr>
        <p:spPr>
          <a:xfrm>
            <a:off x="731520" y="3383280"/>
            <a:ext cx="2240280" cy="1828800"/>
          </a:xfrm>
          <a:prstGeom prst="rect">
            <a:avLst/>
          </a:prstGeom>
          <a:noFill/>
          <a:ln/>
        </p:spPr>
        <p:txBody>
          <a:bodyPr wrap="square" rtlCol="0" anchor="ctr"/>
          <a:lstStyle/>
          <a:p>
            <a:pPr algn="ctr" indent="0" marL="0">
              <a:lnSpc>
                <a:spcPct val="120000"/>
              </a:lnSpc>
              <a:buNone/>
            </a:pPr>
            <a:r>
              <a:rPr lang="en-US" sz="1150" dirty="0">
                <a:solidFill>
                  <a:srgbClr val="1F2430"/>
                </a:solidFill>
                <a:latin typeface="Calibri" pitchFamily="34" charset="0"/>
                <a:ea typeface="Calibri" pitchFamily="34" charset="-122"/>
                <a:cs typeface="Calibri" pitchFamily="34" charset="-120"/>
              </a:rPr>
              <a:t>Governance, chart of accounts, master data standards, and implementation policies.</a:t>
            </a:r>
            <a:endParaRPr lang="en-US" sz="1150" dirty="0"/>
          </a:p>
        </p:txBody>
      </p:sp>
      <p:sp>
        <p:nvSpPr>
          <p:cNvPr id="11" name="Shape 8"/>
          <p:cNvSpPr/>
          <p:nvPr/>
        </p:nvSpPr>
        <p:spPr>
          <a:xfrm>
            <a:off x="4329684" y="1874520"/>
            <a:ext cx="768096" cy="768096"/>
          </a:xfrm>
          <a:prstGeom prst="ellipse">
            <a:avLst/>
          </a:prstGeom>
          <a:solidFill>
            <a:srgbClr val="1E2761"/>
          </a:solidFill>
          <a:ln w="25400">
            <a:solidFill>
              <a:srgbClr val="FFFFFF"/>
            </a:solidFill>
            <a:prstDash val="solid"/>
          </a:ln>
        </p:spPr>
      </p:sp>
      <p:pic>
        <p:nvPicPr>
          <p:cNvPr id="12" name="Image 1" descr="icon_settings_FFFFFF.png">    </p:cNvPr>
          <p:cNvPicPr>
            <a:picLocks noChangeAspect="1"/>
          </p:cNvPicPr>
          <p:nvPr/>
        </p:nvPicPr>
        <p:blipFill>
          <a:blip r:embed="rId2"/>
          <a:stretch>
            <a:fillRect/>
          </a:stretch>
        </p:blipFill>
        <p:spPr>
          <a:xfrm>
            <a:off x="4530852" y="2075688"/>
            <a:ext cx="365760" cy="365760"/>
          </a:xfrm>
          <a:prstGeom prst="rect">
            <a:avLst/>
          </a:prstGeom>
        </p:spPr>
      </p:pic>
      <p:sp>
        <p:nvSpPr>
          <p:cNvPr id="13" name="Text 9"/>
          <p:cNvSpPr/>
          <p:nvPr/>
        </p:nvSpPr>
        <p:spPr>
          <a:xfrm>
            <a:off x="3410712" y="1828800"/>
            <a:ext cx="2606040" cy="274320"/>
          </a:xfrm>
          <a:prstGeom prst="rect">
            <a:avLst/>
          </a:prstGeom>
          <a:noFill/>
          <a:ln/>
        </p:spPr>
        <p:txBody>
          <a:bodyPr wrap="square" rtlCol="0" anchor="ctr"/>
          <a:lstStyle/>
          <a:p>
            <a:pPr algn="ctr" indent="0" marL="0">
              <a:buNone/>
            </a:pPr>
            <a:r>
              <a:rPr lang="en-US" sz="1000" dirty="0">
                <a:solidFill>
                  <a:srgbClr val="5C6B8A"/>
                </a:solidFill>
                <a:latin typeface="Calibri" pitchFamily="34" charset="0"/>
                <a:ea typeface="Calibri" pitchFamily="34" charset="-122"/>
                <a:cs typeface="Calibri" pitchFamily="34" charset="-120"/>
              </a:rPr>
              <a:t>2</a:t>
            </a:r>
            <a:endParaRPr lang="en-US" sz="1000" dirty="0"/>
          </a:p>
        </p:txBody>
      </p:sp>
      <p:sp>
        <p:nvSpPr>
          <p:cNvPr id="14" name="Shape 10"/>
          <p:cNvSpPr/>
          <p:nvPr/>
        </p:nvSpPr>
        <p:spPr>
          <a:xfrm>
            <a:off x="3410712" y="2834640"/>
            <a:ext cx="2606040" cy="2560320"/>
          </a:xfrm>
          <a:prstGeom prst="roundRect">
            <a:avLst>
              <a:gd name="adj" fmla="val 2143"/>
            </a:avLst>
          </a:prstGeom>
          <a:solidFill>
            <a:srgbClr val="F4F7FD"/>
          </a:solidFill>
          <a:ln/>
        </p:spPr>
      </p:sp>
      <p:sp>
        <p:nvSpPr>
          <p:cNvPr id="15" name="Text 11"/>
          <p:cNvSpPr/>
          <p:nvPr/>
        </p:nvSpPr>
        <p:spPr>
          <a:xfrm>
            <a:off x="3575304" y="2971800"/>
            <a:ext cx="2276856" cy="365760"/>
          </a:xfrm>
          <a:prstGeom prst="rect">
            <a:avLst/>
          </a:prstGeom>
          <a:noFill/>
          <a:ln/>
        </p:spPr>
        <p:txBody>
          <a:bodyPr wrap="square" rtlCol="0" anchor="ctr"/>
          <a:lstStyle/>
          <a:p>
            <a:pPr algn="ctr" indent="0" marL="0">
              <a:buNone/>
            </a:pPr>
            <a:r>
              <a:rPr lang="en-US" sz="1700" b="1" dirty="0">
                <a:solidFill>
                  <a:srgbClr val="1E2761"/>
                </a:solidFill>
                <a:latin typeface="Cambria" pitchFamily="34" charset="0"/>
                <a:ea typeface="Cambria" pitchFamily="34" charset="-122"/>
                <a:cs typeface="Cambria" pitchFamily="34" charset="-120"/>
              </a:rPr>
              <a:t>Build</a:t>
            </a:r>
            <a:endParaRPr lang="en-US" sz="1700" dirty="0"/>
          </a:p>
        </p:txBody>
      </p:sp>
      <p:sp>
        <p:nvSpPr>
          <p:cNvPr id="16" name="Text 12"/>
          <p:cNvSpPr/>
          <p:nvPr/>
        </p:nvSpPr>
        <p:spPr>
          <a:xfrm>
            <a:off x="3593592" y="3383280"/>
            <a:ext cx="2240280" cy="1828800"/>
          </a:xfrm>
          <a:prstGeom prst="rect">
            <a:avLst/>
          </a:prstGeom>
          <a:noFill/>
          <a:ln/>
        </p:spPr>
        <p:txBody>
          <a:bodyPr wrap="square" rtlCol="0" anchor="ctr"/>
          <a:lstStyle/>
          <a:p>
            <a:pPr algn="ctr" indent="0" marL="0">
              <a:lnSpc>
                <a:spcPct val="120000"/>
              </a:lnSpc>
              <a:buNone/>
            </a:pPr>
            <a:r>
              <a:rPr lang="en-US" sz="1150" dirty="0">
                <a:solidFill>
                  <a:srgbClr val="1F2430"/>
                </a:solidFill>
                <a:latin typeface="Calibri" pitchFamily="34" charset="0"/>
                <a:ea typeface="Calibri" pitchFamily="34" charset="-122"/>
                <a:cs typeface="Calibri" pitchFamily="34" charset="-120"/>
              </a:rPr>
              <a:t>Configure ERP modules, develop integrations, and validate engineering and manufacturing processes.</a:t>
            </a:r>
            <a:endParaRPr lang="en-US" sz="1150" dirty="0"/>
          </a:p>
        </p:txBody>
      </p:sp>
      <p:sp>
        <p:nvSpPr>
          <p:cNvPr id="17" name="Shape 13"/>
          <p:cNvSpPr/>
          <p:nvPr/>
        </p:nvSpPr>
        <p:spPr>
          <a:xfrm>
            <a:off x="7191756" y="1874520"/>
            <a:ext cx="768096" cy="768096"/>
          </a:xfrm>
          <a:prstGeom prst="ellipse">
            <a:avLst/>
          </a:prstGeom>
          <a:solidFill>
            <a:srgbClr val="1E2761"/>
          </a:solidFill>
          <a:ln w="25400">
            <a:solidFill>
              <a:srgbClr val="FFFFFF"/>
            </a:solidFill>
            <a:prstDash val="solid"/>
          </a:ln>
        </p:spPr>
      </p:sp>
      <p:pic>
        <p:nvPicPr>
          <p:cNvPr id="18" name="Image 2" descr="icon_check_FFFFFF.png">    </p:cNvPr>
          <p:cNvPicPr>
            <a:picLocks noChangeAspect="1"/>
          </p:cNvPicPr>
          <p:nvPr/>
        </p:nvPicPr>
        <p:blipFill>
          <a:blip r:embed="rId3"/>
          <a:stretch>
            <a:fillRect/>
          </a:stretch>
        </p:blipFill>
        <p:spPr>
          <a:xfrm>
            <a:off x="7392924" y="2075688"/>
            <a:ext cx="365760" cy="365760"/>
          </a:xfrm>
          <a:prstGeom prst="rect">
            <a:avLst/>
          </a:prstGeom>
        </p:spPr>
      </p:pic>
      <p:sp>
        <p:nvSpPr>
          <p:cNvPr id="19" name="Text 14"/>
          <p:cNvSpPr/>
          <p:nvPr/>
        </p:nvSpPr>
        <p:spPr>
          <a:xfrm>
            <a:off x="6272784" y="1828800"/>
            <a:ext cx="2606040" cy="274320"/>
          </a:xfrm>
          <a:prstGeom prst="rect">
            <a:avLst/>
          </a:prstGeom>
          <a:noFill/>
          <a:ln/>
        </p:spPr>
        <p:txBody>
          <a:bodyPr wrap="square" rtlCol="0" anchor="ctr"/>
          <a:lstStyle/>
          <a:p>
            <a:pPr algn="ctr" indent="0" marL="0">
              <a:buNone/>
            </a:pPr>
            <a:r>
              <a:rPr lang="en-US" sz="1000" dirty="0">
                <a:solidFill>
                  <a:srgbClr val="5C6B8A"/>
                </a:solidFill>
                <a:latin typeface="Calibri" pitchFamily="34" charset="0"/>
                <a:ea typeface="Calibri" pitchFamily="34" charset="-122"/>
                <a:cs typeface="Calibri" pitchFamily="34" charset="-120"/>
              </a:rPr>
              <a:t>3</a:t>
            </a:r>
            <a:endParaRPr lang="en-US" sz="1000" dirty="0"/>
          </a:p>
        </p:txBody>
      </p:sp>
      <p:sp>
        <p:nvSpPr>
          <p:cNvPr id="20" name="Shape 15"/>
          <p:cNvSpPr/>
          <p:nvPr/>
        </p:nvSpPr>
        <p:spPr>
          <a:xfrm>
            <a:off x="6272784" y="2834640"/>
            <a:ext cx="2606040" cy="2560320"/>
          </a:xfrm>
          <a:prstGeom prst="roundRect">
            <a:avLst>
              <a:gd name="adj" fmla="val 2143"/>
            </a:avLst>
          </a:prstGeom>
          <a:solidFill>
            <a:srgbClr val="F4F7FD"/>
          </a:solidFill>
          <a:ln/>
        </p:spPr>
      </p:sp>
      <p:sp>
        <p:nvSpPr>
          <p:cNvPr id="21" name="Text 16"/>
          <p:cNvSpPr/>
          <p:nvPr/>
        </p:nvSpPr>
        <p:spPr>
          <a:xfrm>
            <a:off x="6437376" y="2971800"/>
            <a:ext cx="2276856" cy="365760"/>
          </a:xfrm>
          <a:prstGeom prst="rect">
            <a:avLst/>
          </a:prstGeom>
          <a:noFill/>
          <a:ln/>
        </p:spPr>
        <p:txBody>
          <a:bodyPr wrap="square" rtlCol="0" anchor="ctr"/>
          <a:lstStyle/>
          <a:p>
            <a:pPr algn="ctr" indent="0" marL="0">
              <a:buNone/>
            </a:pPr>
            <a:r>
              <a:rPr lang="en-US" sz="1700" b="1" dirty="0">
                <a:solidFill>
                  <a:srgbClr val="1E2761"/>
                </a:solidFill>
                <a:latin typeface="Cambria" pitchFamily="34" charset="0"/>
                <a:ea typeface="Cambria" pitchFamily="34" charset="-122"/>
                <a:cs typeface="Cambria" pitchFamily="34" charset="-120"/>
              </a:rPr>
              <a:t>Testing</a:t>
            </a:r>
            <a:endParaRPr lang="en-US" sz="1700" dirty="0"/>
          </a:p>
        </p:txBody>
      </p:sp>
      <p:sp>
        <p:nvSpPr>
          <p:cNvPr id="22" name="Text 17"/>
          <p:cNvSpPr/>
          <p:nvPr/>
        </p:nvSpPr>
        <p:spPr>
          <a:xfrm>
            <a:off x="6455664" y="3383280"/>
            <a:ext cx="2240280" cy="1828800"/>
          </a:xfrm>
          <a:prstGeom prst="rect">
            <a:avLst/>
          </a:prstGeom>
          <a:noFill/>
          <a:ln/>
        </p:spPr>
        <p:txBody>
          <a:bodyPr wrap="square" rtlCol="0" anchor="ctr"/>
          <a:lstStyle/>
          <a:p>
            <a:pPr algn="ctr" indent="0" marL="0">
              <a:lnSpc>
                <a:spcPct val="120000"/>
              </a:lnSpc>
              <a:buNone/>
            </a:pPr>
            <a:r>
              <a:rPr lang="en-US" sz="1150" dirty="0">
                <a:solidFill>
                  <a:srgbClr val="1F2430"/>
                </a:solidFill>
                <a:latin typeface="Calibri" pitchFamily="34" charset="0"/>
                <a:ea typeface="Calibri" pitchFamily="34" charset="-122"/>
                <a:cs typeface="Calibri" pitchFamily="34" charset="-120"/>
              </a:rPr>
              <a:t>Data migration rehearsals, user acceptance testing, system integration testing, and two parallel month end closes.</a:t>
            </a:r>
            <a:endParaRPr lang="en-US" sz="1150" dirty="0"/>
          </a:p>
        </p:txBody>
      </p:sp>
      <p:sp>
        <p:nvSpPr>
          <p:cNvPr id="23" name="Shape 18"/>
          <p:cNvSpPr/>
          <p:nvPr/>
        </p:nvSpPr>
        <p:spPr>
          <a:xfrm>
            <a:off x="10053828" y="1874520"/>
            <a:ext cx="768096" cy="768096"/>
          </a:xfrm>
          <a:prstGeom prst="ellipse">
            <a:avLst/>
          </a:prstGeom>
          <a:solidFill>
            <a:srgbClr val="1E2761"/>
          </a:solidFill>
          <a:ln w="25400">
            <a:solidFill>
              <a:srgbClr val="FFFFFF"/>
            </a:solidFill>
            <a:prstDash val="solid"/>
          </a:ln>
        </p:spPr>
      </p:sp>
      <p:pic>
        <p:nvPicPr>
          <p:cNvPr id="24" name="Image 3" descr="icon_trending_FFFFFF.png">    </p:cNvPr>
          <p:cNvPicPr>
            <a:picLocks noChangeAspect="1"/>
          </p:cNvPicPr>
          <p:nvPr/>
        </p:nvPicPr>
        <p:blipFill>
          <a:blip r:embed="rId4"/>
          <a:stretch>
            <a:fillRect/>
          </a:stretch>
        </p:blipFill>
        <p:spPr>
          <a:xfrm>
            <a:off x="10254996" y="2075688"/>
            <a:ext cx="365760" cy="365760"/>
          </a:xfrm>
          <a:prstGeom prst="rect">
            <a:avLst/>
          </a:prstGeom>
        </p:spPr>
      </p:pic>
      <p:sp>
        <p:nvSpPr>
          <p:cNvPr id="25" name="Text 19"/>
          <p:cNvSpPr/>
          <p:nvPr/>
        </p:nvSpPr>
        <p:spPr>
          <a:xfrm>
            <a:off x="9134856" y="1828800"/>
            <a:ext cx="2606040" cy="274320"/>
          </a:xfrm>
          <a:prstGeom prst="rect">
            <a:avLst/>
          </a:prstGeom>
          <a:noFill/>
          <a:ln/>
        </p:spPr>
        <p:txBody>
          <a:bodyPr wrap="square" rtlCol="0" anchor="ctr"/>
          <a:lstStyle/>
          <a:p>
            <a:pPr algn="ctr" indent="0" marL="0">
              <a:buNone/>
            </a:pPr>
            <a:r>
              <a:rPr lang="en-US" sz="1000" dirty="0">
                <a:solidFill>
                  <a:srgbClr val="5C6B8A"/>
                </a:solidFill>
                <a:latin typeface="Calibri" pitchFamily="34" charset="0"/>
                <a:ea typeface="Calibri" pitchFamily="34" charset="-122"/>
                <a:cs typeface="Calibri" pitchFamily="34" charset="-120"/>
              </a:rPr>
              <a:t>4</a:t>
            </a:r>
            <a:endParaRPr lang="en-US" sz="1000" dirty="0"/>
          </a:p>
        </p:txBody>
      </p:sp>
      <p:sp>
        <p:nvSpPr>
          <p:cNvPr id="26" name="Shape 20"/>
          <p:cNvSpPr/>
          <p:nvPr/>
        </p:nvSpPr>
        <p:spPr>
          <a:xfrm>
            <a:off x="9134856" y="2834640"/>
            <a:ext cx="2606040" cy="2560320"/>
          </a:xfrm>
          <a:prstGeom prst="roundRect">
            <a:avLst>
              <a:gd name="adj" fmla="val 2143"/>
            </a:avLst>
          </a:prstGeom>
          <a:solidFill>
            <a:srgbClr val="F4F7FD"/>
          </a:solidFill>
          <a:ln/>
        </p:spPr>
      </p:sp>
      <p:sp>
        <p:nvSpPr>
          <p:cNvPr id="27" name="Text 21"/>
          <p:cNvSpPr/>
          <p:nvPr/>
        </p:nvSpPr>
        <p:spPr>
          <a:xfrm>
            <a:off x="9299448" y="2971800"/>
            <a:ext cx="2276856" cy="365760"/>
          </a:xfrm>
          <a:prstGeom prst="rect">
            <a:avLst/>
          </a:prstGeom>
          <a:noFill/>
          <a:ln/>
        </p:spPr>
        <p:txBody>
          <a:bodyPr wrap="square" rtlCol="0" anchor="ctr"/>
          <a:lstStyle/>
          <a:p>
            <a:pPr algn="ctr" indent="0" marL="0">
              <a:buNone/>
            </a:pPr>
            <a:r>
              <a:rPr lang="en-US" sz="1700" b="1" dirty="0">
                <a:solidFill>
                  <a:srgbClr val="1E2761"/>
                </a:solidFill>
                <a:latin typeface="Cambria" pitchFamily="34" charset="0"/>
                <a:ea typeface="Cambria" pitchFamily="34" charset="-122"/>
                <a:cs typeface="Cambria" pitchFamily="34" charset="-120"/>
              </a:rPr>
              <a:t>Cutover</a:t>
            </a:r>
            <a:endParaRPr lang="en-US" sz="1700" dirty="0"/>
          </a:p>
        </p:txBody>
      </p:sp>
      <p:sp>
        <p:nvSpPr>
          <p:cNvPr id="28" name="Text 22"/>
          <p:cNvSpPr/>
          <p:nvPr/>
        </p:nvSpPr>
        <p:spPr>
          <a:xfrm>
            <a:off x="9317736" y="3383280"/>
            <a:ext cx="2240280" cy="1828800"/>
          </a:xfrm>
          <a:prstGeom prst="rect">
            <a:avLst/>
          </a:prstGeom>
          <a:noFill/>
          <a:ln/>
        </p:spPr>
        <p:txBody>
          <a:bodyPr wrap="square" rtlCol="0" anchor="ctr"/>
          <a:lstStyle/>
          <a:p>
            <a:pPr algn="ctr" indent="0" marL="0">
              <a:lnSpc>
                <a:spcPct val="120000"/>
              </a:lnSpc>
              <a:buNone/>
            </a:pPr>
            <a:r>
              <a:rPr lang="en-US" sz="1150" dirty="0">
                <a:solidFill>
                  <a:srgbClr val="1F2430"/>
                </a:solidFill>
                <a:latin typeface="Calibri" pitchFamily="34" charset="0"/>
                <a:ea typeface="Calibri" pitchFamily="34" charset="-122"/>
                <a:cs typeface="Calibri" pitchFamily="34" charset="-120"/>
              </a:rPr>
              <a:t>Production deployment, end user training, and 60 to 90 days of post implementation support.</a:t>
            </a:r>
            <a:endParaRPr lang="en-US" sz="1150" dirty="0"/>
          </a:p>
        </p:txBody>
      </p:sp>
      <p:sp>
        <p:nvSpPr>
          <p:cNvPr id="29" name="Text 23"/>
          <p:cNvSpPr/>
          <p:nvPr/>
        </p:nvSpPr>
        <p:spPr>
          <a:xfrm>
            <a:off x="457200" y="6473952"/>
            <a:ext cx="7772400" cy="274320"/>
          </a:xfrm>
          <a:prstGeom prst="rect">
            <a:avLst/>
          </a:prstGeom>
          <a:noFill/>
          <a:ln/>
        </p:spPr>
        <p:txBody>
          <a:bodyPr wrap="square" rtlCol="0" anchor="ctr"/>
          <a:lstStyle/>
          <a:p>
            <a:pPr algn="l" indent="0" marL="0">
              <a:buNone/>
            </a:pPr>
            <a:r>
              <a:rPr lang="en-US" sz="900" dirty="0">
                <a:solidFill>
                  <a:srgbClr val="5C6B8A"/>
                </a:solidFill>
                <a:latin typeface="Calibri" pitchFamily="34" charset="0"/>
                <a:ea typeface="Calibri" pitchFamily="34" charset="-122"/>
                <a:cs typeface="Calibri" pitchFamily="34" charset="-120"/>
              </a:rPr>
              <a:t>Alpha Manufacturing Group  |  ERP Transformation Programme</a:t>
            </a:r>
            <a:endParaRPr lang="en-US" sz="900" dirty="0"/>
          </a:p>
        </p:txBody>
      </p:sp>
      <p:sp>
        <p:nvSpPr>
          <p:cNvPr id="30" name="Text 24"/>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C6B8A"/>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0058400" cy="54864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Key Programme Risks and Mitigation</a:t>
            </a:r>
            <a:endParaRPr lang="en-US" sz="2800" dirty="0"/>
          </a:p>
        </p:txBody>
      </p:sp>
      <p:sp>
        <p:nvSpPr>
          <p:cNvPr id="3" name="Text 1"/>
          <p:cNvSpPr/>
          <p:nvPr/>
        </p:nvSpPr>
        <p:spPr>
          <a:xfrm>
            <a:off x="548640" y="896112"/>
            <a:ext cx="10789920" cy="365760"/>
          </a:xfrm>
          <a:prstGeom prst="rect">
            <a:avLst/>
          </a:prstGeom>
          <a:noFill/>
          <a:ln/>
        </p:spPr>
        <p:txBody>
          <a:bodyPr wrap="square" rtlCol="0" anchor="ctr"/>
          <a:lstStyle/>
          <a:p>
            <a:pPr indent="0" marL="0">
              <a:buNone/>
            </a:pPr>
            <a:r>
              <a:rPr lang="en-US" sz="1300" dirty="0">
                <a:solidFill>
                  <a:srgbClr val="5C6B8A"/>
                </a:solidFill>
                <a:latin typeface="Calibri" pitchFamily="34" charset="0"/>
                <a:ea typeface="Calibri" pitchFamily="34" charset="-122"/>
                <a:cs typeface="Calibri" pitchFamily="34" charset="-120"/>
              </a:rPr>
              <a:t>Continuous monitoring of five risk areas will protect the programme timeline and data quality.</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4846320"/>
        </p:xfrm>
        <a:graphic>
          <a:graphicData uri="http://schemas.openxmlformats.org/drawingml/2006/table">
            <a:tbl>
              <a:tblPr/>
              <a:tblGrid>
                <a:gridCol w="3108960"/>
                <a:gridCol w="3657600"/>
                <a:gridCol w="4325112"/>
              </a:tblGrid>
              <a:tr h="80772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Risk</a:t>
                      </a:r>
                      <a:endParaRPr lang="en-US" sz="1250" dirty="0">
                        <a:latin typeface="Calibri" charset="0"/>
                        <a:ea typeface="Calibri" charset="0"/>
                        <a:cs typeface="Calibri" charset="0"/>
                      </a:endParaRPr>
                    </a:p>
                  </a:txBody>
                  <a:tcPr marL="101600" marR="101600" marT="76200" marB="7620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1E2761"/>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Business Impact</a:t>
                      </a:r>
                      <a:endParaRPr lang="en-US" sz="1250" dirty="0">
                        <a:latin typeface="Calibri" charset="0"/>
                        <a:ea typeface="Calibri" charset="0"/>
                        <a:cs typeface="Calibri" charset="0"/>
                      </a:endParaRPr>
                    </a:p>
                  </a:txBody>
                  <a:tcPr marL="101600" marR="101600" marT="76200" marB="7620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1E2761"/>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Mitigation Strategy</a:t>
                      </a:r>
                      <a:endParaRPr lang="en-US" sz="1250" dirty="0">
                        <a:latin typeface="Calibri" charset="0"/>
                        <a:ea typeface="Calibri" charset="0"/>
                        <a:cs typeface="Calibri" charset="0"/>
                      </a:endParaRPr>
                    </a:p>
                  </a:txBody>
                  <a:tcPr marL="101600" marR="101600" marT="76200" marB="7620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1E2761"/>
                    </a:solidFill>
                  </a:tcPr>
                </a:tc>
              </a:tr>
              <a:tr h="807720">
                <a:tc>
                  <a:txBody>
                    <a:bodyPr/>
                    <a:lstStyle/>
                    <a:p>
                      <a:pPr indent="0" marL="0">
                        <a:buNone/>
                      </a:pPr>
                      <a:r>
                        <a:rPr lang="en-US" sz="1150" b="1" dirty="0">
                          <a:solidFill>
                            <a:srgbClr val="1F2430"/>
                          </a:solidFill>
                          <a:latin typeface="Calibri" pitchFamily="34" charset="0"/>
                          <a:ea typeface="Calibri" pitchFamily="34" charset="-122"/>
                          <a:cs typeface="Calibri" pitchFamily="34" charset="-120"/>
                        </a:rPr>
                        <a:t>Poor BOM and master data quality</a:t>
                      </a:r>
                      <a:endParaRPr lang="en-US" sz="1150" dirty="0">
                        <a:latin typeface="Calibri" charset="0"/>
                        <a:ea typeface="Calibri" charset="0"/>
                        <a:cs typeface="Calibri" charset="0"/>
                      </a:endParaRPr>
                    </a:p>
                  </a:txBody>
                  <a:tcPr marL="101600" marR="101600" marT="76200" marB="7620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Incorrect production planning and inaccurate costing</a:t>
                      </a:r>
                      <a:endParaRPr lang="en-US" sz="1100" dirty="0">
                        <a:latin typeface="Calibri" charset="0"/>
                        <a:ea typeface="Calibri" charset="0"/>
                        <a:cs typeface="Calibri" charset="0"/>
                      </a:endParaRPr>
                    </a:p>
                  </a:txBody>
                  <a:tcPr marL="101600" marR="101600" marT="76200" marB="7620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Complete data cleansing, validation, and ownership before migration</a:t>
                      </a:r>
                      <a:endParaRPr lang="en-US" sz="1100" dirty="0">
                        <a:latin typeface="Calibri" charset="0"/>
                        <a:ea typeface="Calibri" charset="0"/>
                        <a:cs typeface="Calibri" charset="0"/>
                      </a:endParaRPr>
                    </a:p>
                  </a:txBody>
                  <a:tcPr marL="101600" marR="101600" marT="76200" marB="7620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r>
              <a:tr h="807720">
                <a:tc>
                  <a:txBody>
                    <a:bodyPr/>
                    <a:lstStyle/>
                    <a:p>
                      <a:pPr indent="0" marL="0">
                        <a:buNone/>
                      </a:pPr>
                      <a:r>
                        <a:rPr lang="en-US" sz="1150" b="1" dirty="0">
                          <a:solidFill>
                            <a:srgbClr val="1F2430"/>
                          </a:solidFill>
                          <a:latin typeface="Calibri" pitchFamily="34" charset="0"/>
                          <a:ea typeface="Calibri" pitchFamily="34" charset="-122"/>
                          <a:cs typeface="Calibri" pitchFamily="34" charset="-120"/>
                        </a:rPr>
                        <a:t>Excessive system customisation</a:t>
                      </a:r>
                      <a:endParaRPr lang="en-US" sz="1150" dirty="0">
                        <a:latin typeface="Calibri" charset="0"/>
                        <a:ea typeface="Calibri" charset="0"/>
                        <a:cs typeface="Calibri" charset="0"/>
                      </a:endParaRPr>
                    </a:p>
                  </a:txBody>
                  <a:tcPr marL="101600" marR="101600" marT="76200" marB="7620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4F7FD"/>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Increased cost, complexity, and delays</a:t>
                      </a:r>
                      <a:endParaRPr lang="en-US" sz="1100" dirty="0">
                        <a:latin typeface="Calibri" charset="0"/>
                        <a:ea typeface="Calibri" charset="0"/>
                        <a:cs typeface="Calibri" charset="0"/>
                      </a:endParaRPr>
                    </a:p>
                  </a:txBody>
                  <a:tcPr marL="101600" marR="101600" marT="76200" marB="7620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4F7FD"/>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Operate a Change Control Board to approve or reject all change requests</a:t>
                      </a:r>
                      <a:endParaRPr lang="en-US" sz="1100" dirty="0">
                        <a:latin typeface="Calibri" charset="0"/>
                        <a:ea typeface="Calibri" charset="0"/>
                        <a:cs typeface="Calibri" charset="0"/>
                      </a:endParaRPr>
                    </a:p>
                  </a:txBody>
                  <a:tcPr marL="101600" marR="101600" marT="76200" marB="7620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4F7FD"/>
                    </a:solidFill>
                  </a:tcPr>
                </a:tc>
              </a:tr>
              <a:tr h="807720">
                <a:tc>
                  <a:txBody>
                    <a:bodyPr/>
                    <a:lstStyle/>
                    <a:p>
                      <a:pPr indent="0" marL="0">
                        <a:buNone/>
                      </a:pPr>
                      <a:r>
                        <a:rPr lang="en-US" sz="1150" b="1" dirty="0">
                          <a:solidFill>
                            <a:srgbClr val="1F2430"/>
                          </a:solidFill>
                          <a:latin typeface="Calibri" pitchFamily="34" charset="0"/>
                          <a:ea typeface="Calibri" pitchFamily="34" charset="-122"/>
                          <a:cs typeface="Calibri" pitchFamily="34" charset="-120"/>
                        </a:rPr>
                        <a:t>Multi entity financial complexity</a:t>
                      </a:r>
                      <a:endParaRPr lang="en-US" sz="1150" dirty="0">
                        <a:latin typeface="Calibri" charset="0"/>
                        <a:ea typeface="Calibri" charset="0"/>
                        <a:cs typeface="Calibri" charset="0"/>
                      </a:endParaRPr>
                    </a:p>
                  </a:txBody>
                  <a:tcPr marL="101600" marR="101600" marT="76200" marB="7620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Reporting inconsistencies and consolidation challenges</a:t>
                      </a:r>
                      <a:endParaRPr lang="en-US" sz="1100" dirty="0">
                        <a:latin typeface="Calibri" charset="0"/>
                        <a:ea typeface="Calibri" charset="0"/>
                        <a:cs typeface="Calibri" charset="0"/>
                      </a:endParaRPr>
                    </a:p>
                  </a:txBody>
                  <a:tcPr marL="101600" marR="101600" marT="76200" marB="7620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Finalise organisational structures and financial policies in Foundation</a:t>
                      </a:r>
                      <a:endParaRPr lang="en-US" sz="1100" dirty="0">
                        <a:latin typeface="Calibri" charset="0"/>
                        <a:ea typeface="Calibri" charset="0"/>
                        <a:cs typeface="Calibri" charset="0"/>
                      </a:endParaRPr>
                    </a:p>
                  </a:txBody>
                  <a:tcPr marL="101600" marR="101600" marT="76200" marB="7620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r>
              <a:tr h="807720">
                <a:tc>
                  <a:txBody>
                    <a:bodyPr/>
                    <a:lstStyle/>
                    <a:p>
                      <a:pPr indent="0" marL="0">
                        <a:buNone/>
                      </a:pPr>
                      <a:r>
                        <a:rPr lang="en-US" sz="1150" b="1" dirty="0">
                          <a:solidFill>
                            <a:srgbClr val="1F2430"/>
                          </a:solidFill>
                          <a:latin typeface="Calibri" pitchFamily="34" charset="0"/>
                          <a:ea typeface="Calibri" pitchFamily="34" charset="-122"/>
                          <a:cs typeface="Calibri" pitchFamily="34" charset="-120"/>
                        </a:rPr>
                        <a:t>Operational disruption at cutover</a:t>
                      </a:r>
                      <a:endParaRPr lang="en-US" sz="1150" dirty="0">
                        <a:latin typeface="Calibri" charset="0"/>
                        <a:ea typeface="Calibri" charset="0"/>
                        <a:cs typeface="Calibri" charset="0"/>
                      </a:endParaRPr>
                    </a:p>
                  </a:txBody>
                  <a:tcPr marL="101600" marR="101600" marT="76200" marB="7620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4F7FD"/>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Production delays and customer service interruptions</a:t>
                      </a:r>
                      <a:endParaRPr lang="en-US" sz="1100" dirty="0">
                        <a:latin typeface="Calibri" charset="0"/>
                        <a:ea typeface="Calibri" charset="0"/>
                        <a:cs typeface="Calibri" charset="0"/>
                      </a:endParaRPr>
                    </a:p>
                  </a:txBody>
                  <a:tcPr marL="101600" marR="101600" marT="76200" marB="7620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4F7FD"/>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Comprehensive testing, parallel operations, and deployment in low periods</a:t>
                      </a:r>
                      <a:endParaRPr lang="en-US" sz="1100" dirty="0">
                        <a:latin typeface="Calibri" charset="0"/>
                        <a:ea typeface="Calibri" charset="0"/>
                        <a:cs typeface="Calibri" charset="0"/>
                      </a:endParaRPr>
                    </a:p>
                  </a:txBody>
                  <a:tcPr marL="101600" marR="101600" marT="76200" marB="7620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4F7FD"/>
                    </a:solidFill>
                  </a:tcPr>
                </a:tc>
              </a:tr>
              <a:tr h="807720">
                <a:tc>
                  <a:txBody>
                    <a:bodyPr/>
                    <a:lstStyle/>
                    <a:p>
                      <a:pPr indent="0" marL="0">
                        <a:buNone/>
                      </a:pPr>
                      <a:r>
                        <a:rPr lang="en-US" sz="1150" b="1" dirty="0">
                          <a:solidFill>
                            <a:srgbClr val="1F2430"/>
                          </a:solidFill>
                          <a:latin typeface="Calibri" pitchFamily="34" charset="0"/>
                          <a:ea typeface="Calibri" pitchFamily="34" charset="-122"/>
                          <a:cs typeface="Calibri" pitchFamily="34" charset="-120"/>
                        </a:rPr>
                        <a:t>Limited internal resource availability</a:t>
                      </a:r>
                      <a:endParaRPr lang="en-US" sz="1150" dirty="0">
                        <a:latin typeface="Calibri" charset="0"/>
                        <a:ea typeface="Calibri" charset="0"/>
                        <a:cs typeface="Calibri" charset="0"/>
                      </a:endParaRPr>
                    </a:p>
                  </a:txBody>
                  <a:tcPr marL="101600" marR="101600" marT="76200" marB="7620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Reduced project quality and delayed delivery</a:t>
                      </a:r>
                      <a:endParaRPr lang="en-US" sz="1100" dirty="0">
                        <a:latin typeface="Calibri" charset="0"/>
                        <a:ea typeface="Calibri" charset="0"/>
                        <a:cs typeface="Calibri" charset="0"/>
                      </a:endParaRPr>
                    </a:p>
                  </a:txBody>
                  <a:tcPr marL="101600" marR="101600" marT="76200" marB="7620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c>
                  <a:txBody>
                    <a:bodyPr/>
                    <a:lstStyle/>
                    <a:p>
                      <a:pPr indent="0" marL="0">
                        <a:buNone/>
                      </a:pPr>
                      <a:r>
                        <a:rPr lang="en-US" sz="1100" dirty="0">
                          <a:solidFill>
                            <a:srgbClr val="1F2430"/>
                          </a:solidFill>
                          <a:latin typeface="Calibri" pitchFamily="34" charset="0"/>
                          <a:ea typeface="Calibri" pitchFamily="34" charset="-122"/>
                          <a:cs typeface="Calibri" pitchFamily="34" charset="-120"/>
                        </a:rPr>
                        <a:t>Dedicated business representatives supported by experienced consultants</a:t>
                      </a:r>
                      <a:endParaRPr lang="en-US" sz="1100" dirty="0">
                        <a:latin typeface="Calibri" charset="0"/>
                        <a:ea typeface="Calibri" charset="0"/>
                        <a:cs typeface="Calibri" charset="0"/>
                      </a:endParaRPr>
                    </a:p>
                  </a:txBody>
                  <a:tcPr marL="101600" marR="101600" marT="76200" marB="76200" anchor="ctr">
                    <a:lnL w="9525" cap="flat" cmpd="sng" algn="ctr">
                      <a:solidFill>
                        <a:srgbClr val="DCE3F0"/>
                      </a:solidFill>
                      <a:prstDash val="solid"/>
                      <a:round/>
                      <a:headEnd type="none" w="med" len="med"/>
                      <a:tailEnd type="none" w="med" len="med"/>
                    </a:lnL>
                    <a:lnR w="9525" cap="flat" cmpd="sng" algn="ctr">
                      <a:solidFill>
                        <a:srgbClr val="DCE3F0"/>
                      </a:solidFill>
                      <a:prstDash val="solid"/>
                      <a:round/>
                      <a:headEnd type="none" w="med" len="med"/>
                      <a:tailEnd type="none" w="med" len="med"/>
                    </a:lnR>
                    <a:lnT w="9525" cap="flat" cmpd="sng" algn="ctr">
                      <a:solidFill>
                        <a:srgbClr val="DCE3F0"/>
                      </a:solidFill>
                      <a:prstDash val="solid"/>
                      <a:round/>
                      <a:headEnd type="none" w="med" len="med"/>
                      <a:tailEnd type="none" w="med" len="med"/>
                    </a:lnT>
                    <a:lnB w="9525" cap="flat" cmpd="sng" algn="ctr">
                      <a:solidFill>
                        <a:srgbClr val="DCE3F0"/>
                      </a:solidFill>
                      <a:prstDash val="solid"/>
                      <a:round/>
                      <a:headEnd type="none" w="med" len="med"/>
                      <a:tailEnd type="none" w="med" len="med"/>
                    </a:lnB>
                    <a:solidFill>
                      <a:srgbClr val="FFFFFF"/>
                    </a:solidFill>
                  </a:tcPr>
                </a:tc>
              </a:tr>
            </a:tbl>
          </a:graphicData>
        </a:graphic>
      </p:graphicFrame>
      <p:sp>
        <p:nvSpPr>
          <p:cNvPr id="5" name="Text 2"/>
          <p:cNvSpPr/>
          <p:nvPr/>
        </p:nvSpPr>
        <p:spPr>
          <a:xfrm>
            <a:off x="457200" y="6473952"/>
            <a:ext cx="7772400" cy="274320"/>
          </a:xfrm>
          <a:prstGeom prst="rect">
            <a:avLst/>
          </a:prstGeom>
          <a:noFill/>
          <a:ln/>
        </p:spPr>
        <p:txBody>
          <a:bodyPr wrap="square" rtlCol="0" anchor="ctr"/>
          <a:lstStyle/>
          <a:p>
            <a:pPr algn="l" indent="0" marL="0">
              <a:buNone/>
            </a:pPr>
            <a:r>
              <a:rPr lang="en-US" sz="900" dirty="0">
                <a:solidFill>
                  <a:srgbClr val="5C6B8A"/>
                </a:solidFill>
                <a:latin typeface="Calibri" pitchFamily="34" charset="0"/>
                <a:ea typeface="Calibri" pitchFamily="34" charset="-122"/>
                <a:cs typeface="Calibri" pitchFamily="34" charset="-120"/>
              </a:rPr>
              <a:t>Alpha Manufacturing Group  |  ERP Transformation Programme</a:t>
            </a:r>
            <a:endParaRPr lang="en-US" sz="900" dirty="0"/>
          </a:p>
        </p:txBody>
      </p:sp>
      <p:sp>
        <p:nvSpPr>
          <p:cNvPr id="6" name="Text 3"/>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C6B8A"/>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54864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Programme Scope</a:t>
            </a:r>
            <a:endParaRPr lang="en-US" sz="2800" dirty="0"/>
          </a:p>
        </p:txBody>
      </p:sp>
      <p:sp>
        <p:nvSpPr>
          <p:cNvPr id="3" name="Text 1"/>
          <p:cNvSpPr/>
          <p:nvPr/>
        </p:nvSpPr>
        <p:spPr>
          <a:xfrm>
            <a:off x="548640" y="960120"/>
            <a:ext cx="10789920" cy="365760"/>
          </a:xfrm>
          <a:prstGeom prst="rect">
            <a:avLst/>
          </a:prstGeom>
          <a:noFill/>
          <a:ln/>
        </p:spPr>
        <p:txBody>
          <a:bodyPr wrap="square" rtlCol="0" anchor="ctr"/>
          <a:lstStyle/>
          <a:p>
            <a:pPr indent="0" marL="0">
              <a:buNone/>
            </a:pPr>
            <a:r>
              <a:rPr lang="en-US" sz="1300" dirty="0">
                <a:solidFill>
                  <a:srgbClr val="5C6B8A"/>
                </a:solidFill>
                <a:latin typeface="Calibri" pitchFamily="34" charset="0"/>
                <a:ea typeface="Calibri" pitchFamily="34" charset="-122"/>
                <a:cs typeface="Calibri" pitchFamily="34" charset="-120"/>
              </a:rPr>
              <a:t>Scope is prioritised toward the capabilities that most directly improve performance and visibility.</a:t>
            </a:r>
            <a:endParaRPr lang="en-US" sz="1300" dirty="0"/>
          </a:p>
        </p:txBody>
      </p:sp>
      <p:sp>
        <p:nvSpPr>
          <p:cNvPr id="4" name="Shape 2"/>
          <p:cNvSpPr/>
          <p:nvPr/>
        </p:nvSpPr>
        <p:spPr>
          <a:xfrm>
            <a:off x="548640" y="1600200"/>
            <a:ext cx="5349240" cy="4572000"/>
          </a:xfrm>
          <a:prstGeom prst="roundRect">
            <a:avLst>
              <a:gd name="adj" fmla="val 1600"/>
            </a:avLst>
          </a:prstGeom>
          <a:solidFill>
            <a:srgbClr val="1E2761"/>
          </a:solidFill>
          <a:ln/>
        </p:spPr>
      </p:sp>
      <p:pic>
        <p:nvPicPr>
          <p:cNvPr id="5" name="Image 0" descr="icon_check_FFFFFF.png">    </p:cNvPr>
          <p:cNvPicPr>
            <a:picLocks noChangeAspect="1"/>
          </p:cNvPicPr>
          <p:nvPr/>
        </p:nvPicPr>
        <p:blipFill>
          <a:blip r:embed="rId1"/>
          <a:stretch>
            <a:fillRect/>
          </a:stretch>
        </p:blipFill>
        <p:spPr>
          <a:xfrm>
            <a:off x="868680" y="1874520"/>
            <a:ext cx="365760" cy="365760"/>
          </a:xfrm>
          <a:prstGeom prst="rect">
            <a:avLst/>
          </a:prstGeom>
        </p:spPr>
      </p:pic>
      <p:sp>
        <p:nvSpPr>
          <p:cNvPr id="6" name="Text 3"/>
          <p:cNvSpPr/>
          <p:nvPr/>
        </p:nvSpPr>
        <p:spPr>
          <a:xfrm>
            <a:off x="1371600" y="1856232"/>
            <a:ext cx="4206240" cy="41148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Day One Scope</a:t>
            </a:r>
            <a:endParaRPr lang="en-US" sz="1800" dirty="0"/>
          </a:p>
        </p:txBody>
      </p:sp>
      <p:sp>
        <p:nvSpPr>
          <p:cNvPr id="7" name="Text 4"/>
          <p:cNvSpPr/>
          <p:nvPr/>
        </p:nvSpPr>
        <p:spPr>
          <a:xfrm>
            <a:off x="868680" y="2423160"/>
            <a:ext cx="4709160" cy="3657600"/>
          </a:xfrm>
          <a:prstGeom prst="rect">
            <a:avLst/>
          </a:prstGeom>
          <a:noFill/>
          <a:ln/>
        </p:spPr>
        <p:txBody>
          <a:bodyPr wrap="square" rtlCol="0" anchor="ctr"/>
          <a:lstStyle/>
          <a:p>
            <a:pPr marL="342900" indent="-342900">
              <a:lnSpc>
                <a:spcPct val="130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Finance, General Ledger, Accounts Payable, Accounts Receivable</a:t>
            </a:r>
            <a:endParaRPr lang="en-US" sz="1250" dirty="0"/>
          </a:p>
          <a:p>
            <a:pPr marL="342900" indent="-342900">
              <a:lnSpc>
                <a:spcPct val="130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Procurement and Manufacturing</a:t>
            </a:r>
            <a:endParaRPr lang="en-US" sz="1250" dirty="0"/>
          </a:p>
          <a:p>
            <a:pPr marL="342900" indent="-342900">
              <a:lnSpc>
                <a:spcPct val="130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Material Requirements Planning</a:t>
            </a:r>
            <a:endParaRPr lang="en-US" sz="1250" dirty="0"/>
          </a:p>
          <a:p>
            <a:pPr marL="342900" indent="-342900">
              <a:lnSpc>
                <a:spcPct val="130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Engineering BOM and Engineering Change Control</a:t>
            </a:r>
            <a:endParaRPr lang="en-US" sz="1250" dirty="0"/>
          </a:p>
          <a:p>
            <a:pPr marL="342900" indent="-342900">
              <a:lnSpc>
                <a:spcPct val="130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Multi entity financial management</a:t>
            </a:r>
            <a:endParaRPr lang="en-US" sz="1250" dirty="0"/>
          </a:p>
          <a:p>
            <a:pPr marL="342900" indent="-342900">
              <a:lnSpc>
                <a:spcPct val="130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Production costing and contribution margin reporting</a:t>
            </a:r>
            <a:endParaRPr lang="en-US" sz="1250" dirty="0"/>
          </a:p>
          <a:p>
            <a:pPr marL="342900" indent="-342900">
              <a:lnSpc>
                <a:spcPct val="130000"/>
              </a:lnSpc>
              <a:spcAft>
                <a:spcPts val="800"/>
              </a:spcAft>
              <a:buSzPct val="100000"/>
              <a:buChar char="▪"/>
            </a:pPr>
            <a:r>
              <a:rPr lang="en-US" sz="1250" dirty="0">
                <a:solidFill>
                  <a:srgbClr val="FFFFFF"/>
                </a:solidFill>
                <a:latin typeface="Calibri" pitchFamily="34" charset="0"/>
                <a:ea typeface="Calibri" pitchFamily="34" charset="-122"/>
                <a:cs typeface="Calibri" pitchFamily="34" charset="-120"/>
              </a:rPr>
              <a:t>Operational dashboards</a:t>
            </a:r>
            <a:endParaRPr lang="en-US" sz="1250" dirty="0"/>
          </a:p>
        </p:txBody>
      </p:sp>
      <p:sp>
        <p:nvSpPr>
          <p:cNvPr id="8" name="Shape 5"/>
          <p:cNvSpPr/>
          <p:nvPr/>
        </p:nvSpPr>
        <p:spPr>
          <a:xfrm>
            <a:off x="6263640" y="1600200"/>
            <a:ext cx="5376672" cy="4572000"/>
          </a:xfrm>
          <a:prstGeom prst="roundRect">
            <a:avLst>
              <a:gd name="adj" fmla="val 1600"/>
            </a:avLst>
          </a:prstGeom>
          <a:solidFill>
            <a:srgbClr val="F4F7FD"/>
          </a:solidFill>
          <a:ln w="12700">
            <a:solidFill>
              <a:srgbClr val="CADCFC"/>
            </a:solidFill>
            <a:prstDash val="solid"/>
          </a:ln>
        </p:spPr>
      </p:sp>
      <p:pic>
        <p:nvPicPr>
          <p:cNvPr id="9" name="Image 1" descr="icon_refresh_1E2761.png">    </p:cNvPr>
          <p:cNvPicPr>
            <a:picLocks noChangeAspect="1"/>
          </p:cNvPicPr>
          <p:nvPr/>
        </p:nvPicPr>
        <p:blipFill>
          <a:blip r:embed="rId2"/>
          <a:stretch>
            <a:fillRect/>
          </a:stretch>
        </p:blipFill>
        <p:spPr>
          <a:xfrm>
            <a:off x="6583680" y="1874520"/>
            <a:ext cx="365760" cy="365760"/>
          </a:xfrm>
          <a:prstGeom prst="rect">
            <a:avLst/>
          </a:prstGeom>
        </p:spPr>
      </p:pic>
      <p:sp>
        <p:nvSpPr>
          <p:cNvPr id="10" name="Text 6"/>
          <p:cNvSpPr/>
          <p:nvPr/>
        </p:nvSpPr>
        <p:spPr>
          <a:xfrm>
            <a:off x="7086600" y="1856232"/>
            <a:ext cx="4297680" cy="411480"/>
          </a:xfrm>
          <a:prstGeom prst="rect">
            <a:avLst/>
          </a:prstGeom>
          <a:noFill/>
          <a:ln/>
        </p:spPr>
        <p:txBody>
          <a:bodyPr wrap="square"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Deferred to Phase Two</a:t>
            </a:r>
            <a:endParaRPr lang="en-US" sz="1800" dirty="0"/>
          </a:p>
        </p:txBody>
      </p:sp>
      <p:sp>
        <p:nvSpPr>
          <p:cNvPr id="11" name="Text 7"/>
          <p:cNvSpPr/>
          <p:nvPr/>
        </p:nvSpPr>
        <p:spPr>
          <a:xfrm>
            <a:off x="6583680" y="2423160"/>
            <a:ext cx="4846320" cy="3657600"/>
          </a:xfrm>
          <a:prstGeom prst="rect">
            <a:avLst/>
          </a:prstGeom>
          <a:noFill/>
          <a:ln/>
        </p:spPr>
        <p:txBody>
          <a:bodyPr wrap="square" rtlCol="0" anchor="ctr"/>
          <a:lstStyle/>
          <a:p>
            <a:pPr marL="342900" indent="-342900">
              <a:lnSpc>
                <a:spcPct val="130000"/>
              </a:lnSpc>
              <a:spcAft>
                <a:spcPts val="1000"/>
              </a:spcAft>
              <a:buSzPct val="100000"/>
              <a:buChar char="▪"/>
            </a:pPr>
            <a:r>
              <a:rPr lang="en-US" sz="1250" dirty="0">
                <a:solidFill>
                  <a:srgbClr val="1F2430"/>
                </a:solidFill>
                <a:latin typeface="Calibri" pitchFamily="34" charset="0"/>
                <a:ea typeface="Calibri" pitchFamily="34" charset="-122"/>
                <a:cs typeface="Calibri" pitchFamily="34" charset="-120"/>
              </a:rPr>
              <a:t>CRM integration</a:t>
            </a:r>
            <a:endParaRPr lang="en-US" sz="1250" dirty="0"/>
          </a:p>
          <a:p>
            <a:pPr marL="342900" indent="-342900">
              <a:lnSpc>
                <a:spcPct val="130000"/>
              </a:lnSpc>
              <a:spcAft>
                <a:spcPts val="1000"/>
              </a:spcAft>
              <a:buSzPct val="100000"/>
              <a:buChar char="▪"/>
            </a:pPr>
            <a:r>
              <a:rPr lang="en-US" sz="1250" dirty="0">
                <a:solidFill>
                  <a:srgbClr val="1F2430"/>
                </a:solidFill>
                <a:latin typeface="Calibri" pitchFamily="34" charset="0"/>
                <a:ea typeface="Calibri" pitchFamily="34" charset="-122"/>
                <a:cs typeface="Calibri" pitchFamily="34" charset="-120"/>
              </a:rPr>
              <a:t>HRIS and Payroll integration</a:t>
            </a:r>
            <a:endParaRPr lang="en-US" sz="1250" dirty="0"/>
          </a:p>
          <a:p>
            <a:pPr marL="342900" indent="-342900">
              <a:lnSpc>
                <a:spcPct val="130000"/>
              </a:lnSpc>
              <a:spcAft>
                <a:spcPts val="1000"/>
              </a:spcAft>
              <a:buSzPct val="100000"/>
              <a:buChar char="▪"/>
            </a:pPr>
            <a:r>
              <a:rPr lang="en-US" sz="1250" dirty="0">
                <a:solidFill>
                  <a:srgbClr val="1F2430"/>
                </a:solidFill>
                <a:latin typeface="Calibri" pitchFamily="34" charset="0"/>
                <a:ea typeface="Calibri" pitchFamily="34" charset="-122"/>
                <a:cs typeface="Calibri" pitchFamily="34" charset="-120"/>
              </a:rPr>
              <a:t>Advanced business intelligence capabilities</a:t>
            </a:r>
            <a:endParaRPr lang="en-US" sz="1250" dirty="0"/>
          </a:p>
          <a:p>
            <a:pPr marL="342900" indent="-342900">
              <a:lnSpc>
                <a:spcPct val="130000"/>
              </a:lnSpc>
              <a:spcAft>
                <a:spcPts val="1000"/>
              </a:spcAft>
              <a:buSzPct val="100000"/>
              <a:buChar char="▪"/>
            </a:pPr>
            <a:r>
              <a:rPr lang="en-US" sz="1250" dirty="0">
                <a:solidFill>
                  <a:srgbClr val="1F2430"/>
                </a:solidFill>
                <a:latin typeface="Calibri" pitchFamily="34" charset="0"/>
                <a:ea typeface="Calibri" pitchFamily="34" charset="-122"/>
                <a:cs typeface="Calibri" pitchFamily="34" charset="-120"/>
              </a:rPr>
              <a:t>Low priority site specific process variations</a:t>
            </a:r>
            <a:endParaRPr lang="en-US" sz="1250" dirty="0"/>
          </a:p>
          <a:p>
            <a:pPr marL="342900" indent="-342900">
              <a:lnSpc>
                <a:spcPct val="130000"/>
              </a:lnSpc>
              <a:spcAft>
                <a:spcPts val="1000"/>
              </a:spcAft>
              <a:buSzPct val="100000"/>
              <a:buChar char="▪"/>
            </a:pPr>
            <a:r>
              <a:rPr lang="en-US" sz="1250" dirty="0">
                <a:solidFill>
                  <a:srgbClr val="1F2430"/>
                </a:solidFill>
                <a:latin typeface="Calibri" pitchFamily="34" charset="0"/>
                <a:ea typeface="Calibri" pitchFamily="34" charset="-122"/>
                <a:cs typeface="Calibri" pitchFamily="34" charset="-120"/>
              </a:rPr>
              <a:t>Custom developments that do not support operational performance or compliance</a:t>
            </a:r>
            <a:endParaRPr lang="en-US" sz="1250" dirty="0"/>
          </a:p>
        </p:txBody>
      </p:sp>
      <p:sp>
        <p:nvSpPr>
          <p:cNvPr id="12" name="Text 8"/>
          <p:cNvSpPr/>
          <p:nvPr/>
        </p:nvSpPr>
        <p:spPr>
          <a:xfrm>
            <a:off x="457200" y="6473952"/>
            <a:ext cx="7772400" cy="274320"/>
          </a:xfrm>
          <a:prstGeom prst="rect">
            <a:avLst/>
          </a:prstGeom>
          <a:noFill/>
          <a:ln/>
        </p:spPr>
        <p:txBody>
          <a:bodyPr wrap="square" rtlCol="0" anchor="ctr"/>
          <a:lstStyle/>
          <a:p>
            <a:pPr algn="l" indent="0" marL="0">
              <a:buNone/>
            </a:pPr>
            <a:r>
              <a:rPr lang="en-US" sz="900" dirty="0">
                <a:solidFill>
                  <a:srgbClr val="5C6B8A"/>
                </a:solidFill>
                <a:latin typeface="Calibri" pitchFamily="34" charset="0"/>
                <a:ea typeface="Calibri" pitchFamily="34" charset="-122"/>
                <a:cs typeface="Calibri" pitchFamily="34" charset="-120"/>
              </a:rPr>
              <a:t>Alpha Manufacturing Group  |  ERP Transformation Programme</a:t>
            </a:r>
            <a:endParaRPr lang="en-US" sz="900" dirty="0"/>
          </a:p>
        </p:txBody>
      </p:sp>
      <p:sp>
        <p:nvSpPr>
          <p:cNvPr id="13" name="Text 9"/>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C6B8A"/>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515600" cy="54864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Data Migration and Reporting Continuity</a:t>
            </a:r>
            <a:endParaRPr lang="en-US" sz="2800" dirty="0"/>
          </a:p>
        </p:txBody>
      </p:sp>
      <p:sp>
        <p:nvSpPr>
          <p:cNvPr id="3" name="Shape 1"/>
          <p:cNvSpPr/>
          <p:nvPr/>
        </p:nvSpPr>
        <p:spPr>
          <a:xfrm>
            <a:off x="548640" y="1371600"/>
            <a:ext cx="566928" cy="566928"/>
          </a:xfrm>
          <a:prstGeom prst="ellipse">
            <a:avLst/>
          </a:prstGeom>
          <a:solidFill>
            <a:srgbClr val="1E2761"/>
          </a:solidFill>
          <a:ln/>
        </p:spPr>
      </p:sp>
      <p:pic>
        <p:nvPicPr>
          <p:cNvPr id="4" name="Image 0" descr="icon_database_FFFFFF.png">    </p:cNvPr>
          <p:cNvPicPr>
            <a:picLocks noChangeAspect="1"/>
          </p:cNvPicPr>
          <p:nvPr/>
        </p:nvPicPr>
        <p:blipFill>
          <a:blip r:embed="rId1"/>
          <a:stretch>
            <a:fillRect/>
          </a:stretch>
        </p:blipFill>
        <p:spPr>
          <a:xfrm>
            <a:off x="676656" y="1499616"/>
            <a:ext cx="310896" cy="310896"/>
          </a:xfrm>
          <a:prstGeom prst="rect">
            <a:avLst/>
          </a:prstGeom>
        </p:spPr>
      </p:pic>
      <p:sp>
        <p:nvSpPr>
          <p:cNvPr id="5" name="Text 2"/>
          <p:cNvSpPr/>
          <p:nvPr/>
        </p:nvSpPr>
        <p:spPr>
          <a:xfrm>
            <a:off x="1298448" y="1344168"/>
            <a:ext cx="4251960" cy="457200"/>
          </a:xfrm>
          <a:prstGeom prst="rect">
            <a:avLst/>
          </a:prstGeom>
          <a:noFill/>
          <a:ln/>
        </p:spPr>
        <p:txBody>
          <a:bodyPr wrap="square" rtlCol="0" anchor="ctr"/>
          <a:lstStyle/>
          <a:p>
            <a:pPr indent="0" marL="0">
              <a:buNone/>
            </a:pPr>
            <a:r>
              <a:rPr lang="en-US" sz="1550" b="1" dirty="0">
                <a:solidFill>
                  <a:srgbClr val="1E2761"/>
                </a:solidFill>
                <a:latin typeface="Cambria" pitchFamily="34" charset="0"/>
                <a:ea typeface="Cambria" pitchFamily="34" charset="-122"/>
                <a:cs typeface="Cambria" pitchFamily="34" charset="-120"/>
              </a:rPr>
              <a:t>Full master data migration</a:t>
            </a:r>
            <a:endParaRPr lang="en-US" sz="1550" dirty="0"/>
          </a:p>
        </p:txBody>
      </p:sp>
      <p:sp>
        <p:nvSpPr>
          <p:cNvPr id="6" name="Text 3"/>
          <p:cNvSpPr/>
          <p:nvPr/>
        </p:nvSpPr>
        <p:spPr>
          <a:xfrm>
            <a:off x="1298448" y="1810512"/>
            <a:ext cx="4251960" cy="1371600"/>
          </a:xfrm>
          <a:prstGeom prst="rect">
            <a:avLst/>
          </a:prstGeom>
          <a:noFill/>
          <a:ln/>
        </p:spPr>
        <p:txBody>
          <a:bodyPr wrap="square" rtlCol="0" anchor="ctr"/>
          <a:lstStyle/>
          <a:p>
            <a:pPr indent="0" marL="0">
              <a:lnSpc>
                <a:spcPct val="122000"/>
              </a:lnSpc>
              <a:buNone/>
            </a:pPr>
            <a:r>
              <a:rPr lang="en-US" sz="1250" dirty="0">
                <a:solidFill>
                  <a:srgbClr val="1F2430"/>
                </a:solidFill>
                <a:latin typeface="Calibri" pitchFamily="34" charset="0"/>
                <a:ea typeface="Calibri" pitchFamily="34" charset="-122"/>
                <a:cs typeface="Calibri" pitchFamily="34" charset="-120"/>
              </a:rPr>
              <a:t>Customers, suppliers, inventory, engineering BOMs, and open transactions are cleansed and migrated into the new ERP.</a:t>
            </a:r>
            <a:endParaRPr lang="en-US" sz="1250" dirty="0"/>
          </a:p>
        </p:txBody>
      </p:sp>
      <p:sp>
        <p:nvSpPr>
          <p:cNvPr id="7" name="Shape 4"/>
          <p:cNvSpPr/>
          <p:nvPr/>
        </p:nvSpPr>
        <p:spPr>
          <a:xfrm>
            <a:off x="6080760" y="1371600"/>
            <a:ext cx="566928" cy="566928"/>
          </a:xfrm>
          <a:prstGeom prst="ellipse">
            <a:avLst/>
          </a:prstGeom>
          <a:solidFill>
            <a:srgbClr val="1E2761"/>
          </a:solidFill>
          <a:ln/>
        </p:spPr>
      </p:sp>
      <p:pic>
        <p:nvPicPr>
          <p:cNvPr id="8" name="Image 1" descr="icon_clipboard_FFFFFF.png">    </p:cNvPr>
          <p:cNvPicPr>
            <a:picLocks noChangeAspect="1"/>
          </p:cNvPicPr>
          <p:nvPr/>
        </p:nvPicPr>
        <p:blipFill>
          <a:blip r:embed="rId2"/>
          <a:stretch>
            <a:fillRect/>
          </a:stretch>
        </p:blipFill>
        <p:spPr>
          <a:xfrm>
            <a:off x="6208776" y="1499616"/>
            <a:ext cx="310896" cy="310896"/>
          </a:xfrm>
          <a:prstGeom prst="rect">
            <a:avLst/>
          </a:prstGeom>
        </p:spPr>
      </p:pic>
      <p:sp>
        <p:nvSpPr>
          <p:cNvPr id="9" name="Text 5"/>
          <p:cNvSpPr/>
          <p:nvPr/>
        </p:nvSpPr>
        <p:spPr>
          <a:xfrm>
            <a:off x="6830568" y="1344168"/>
            <a:ext cx="4251960" cy="457200"/>
          </a:xfrm>
          <a:prstGeom prst="rect">
            <a:avLst/>
          </a:prstGeom>
          <a:noFill/>
          <a:ln/>
        </p:spPr>
        <p:txBody>
          <a:bodyPr wrap="square" rtlCol="0" anchor="ctr"/>
          <a:lstStyle/>
          <a:p>
            <a:pPr indent="0" marL="0">
              <a:buNone/>
            </a:pPr>
            <a:r>
              <a:rPr lang="en-US" sz="1550" b="1" dirty="0">
                <a:solidFill>
                  <a:srgbClr val="1E2761"/>
                </a:solidFill>
                <a:latin typeface="Cambria" pitchFamily="34" charset="0"/>
                <a:ea typeface="Cambria" pitchFamily="34" charset="-122"/>
                <a:cs typeface="Cambria" pitchFamily="34" charset="-120"/>
              </a:rPr>
              <a:t>24 to 36 months of history</a:t>
            </a:r>
            <a:endParaRPr lang="en-US" sz="1550" dirty="0"/>
          </a:p>
        </p:txBody>
      </p:sp>
      <p:sp>
        <p:nvSpPr>
          <p:cNvPr id="10" name="Text 6"/>
          <p:cNvSpPr/>
          <p:nvPr/>
        </p:nvSpPr>
        <p:spPr>
          <a:xfrm>
            <a:off x="6830568" y="1810512"/>
            <a:ext cx="4251960" cy="1371600"/>
          </a:xfrm>
          <a:prstGeom prst="rect">
            <a:avLst/>
          </a:prstGeom>
          <a:noFill/>
          <a:ln/>
        </p:spPr>
        <p:txBody>
          <a:bodyPr wrap="square" rtlCol="0" anchor="ctr"/>
          <a:lstStyle/>
          <a:p>
            <a:pPr indent="0" marL="0">
              <a:lnSpc>
                <a:spcPct val="122000"/>
              </a:lnSpc>
              <a:buNone/>
            </a:pPr>
            <a:r>
              <a:rPr lang="en-US" sz="1250" dirty="0">
                <a:solidFill>
                  <a:srgbClr val="1F2430"/>
                </a:solidFill>
                <a:latin typeface="Calibri" pitchFamily="34" charset="0"/>
                <a:ea typeface="Calibri" pitchFamily="34" charset="-122"/>
                <a:cs typeface="Calibri" pitchFamily="34" charset="-120"/>
              </a:rPr>
              <a:t>Historical transactional data is migrated to support operational reporting. Older records move to a secure read only archive.</a:t>
            </a:r>
            <a:endParaRPr lang="en-US" sz="1250" dirty="0"/>
          </a:p>
        </p:txBody>
      </p:sp>
      <p:sp>
        <p:nvSpPr>
          <p:cNvPr id="11" name="Shape 7"/>
          <p:cNvSpPr/>
          <p:nvPr/>
        </p:nvSpPr>
        <p:spPr>
          <a:xfrm>
            <a:off x="548640" y="3794760"/>
            <a:ext cx="566928" cy="566928"/>
          </a:xfrm>
          <a:prstGeom prst="ellipse">
            <a:avLst/>
          </a:prstGeom>
          <a:solidFill>
            <a:srgbClr val="1E2761"/>
          </a:solidFill>
          <a:ln/>
        </p:spPr>
      </p:sp>
      <p:pic>
        <p:nvPicPr>
          <p:cNvPr id="12" name="Image 2" descr="icon_shield_FFFFFF.png">    </p:cNvPr>
          <p:cNvPicPr>
            <a:picLocks noChangeAspect="1"/>
          </p:cNvPicPr>
          <p:nvPr/>
        </p:nvPicPr>
        <p:blipFill>
          <a:blip r:embed="rId3"/>
          <a:stretch>
            <a:fillRect/>
          </a:stretch>
        </p:blipFill>
        <p:spPr>
          <a:xfrm>
            <a:off x="676656" y="3922776"/>
            <a:ext cx="310896" cy="310896"/>
          </a:xfrm>
          <a:prstGeom prst="rect">
            <a:avLst/>
          </a:prstGeom>
        </p:spPr>
      </p:pic>
      <p:sp>
        <p:nvSpPr>
          <p:cNvPr id="13" name="Text 8"/>
          <p:cNvSpPr/>
          <p:nvPr/>
        </p:nvSpPr>
        <p:spPr>
          <a:xfrm>
            <a:off x="1298448" y="3767328"/>
            <a:ext cx="4251960" cy="457200"/>
          </a:xfrm>
          <a:prstGeom prst="rect">
            <a:avLst/>
          </a:prstGeom>
          <a:noFill/>
          <a:ln/>
        </p:spPr>
        <p:txBody>
          <a:bodyPr wrap="square" rtlCol="0" anchor="ctr"/>
          <a:lstStyle/>
          <a:p>
            <a:pPr indent="0" marL="0">
              <a:buNone/>
            </a:pPr>
            <a:r>
              <a:rPr lang="en-US" sz="1550" b="1" dirty="0">
                <a:solidFill>
                  <a:srgbClr val="1E2761"/>
                </a:solidFill>
                <a:latin typeface="Cambria" pitchFamily="34" charset="0"/>
                <a:ea typeface="Cambria" pitchFamily="34" charset="-122"/>
                <a:cs typeface="Cambria" pitchFamily="34" charset="-120"/>
              </a:rPr>
              <a:t>Interim reporting environment</a:t>
            </a:r>
            <a:endParaRPr lang="en-US" sz="1550" dirty="0"/>
          </a:p>
        </p:txBody>
      </p:sp>
      <p:sp>
        <p:nvSpPr>
          <p:cNvPr id="14" name="Text 9"/>
          <p:cNvSpPr/>
          <p:nvPr/>
        </p:nvSpPr>
        <p:spPr>
          <a:xfrm>
            <a:off x="1298448" y="4233672"/>
            <a:ext cx="4251960" cy="1371600"/>
          </a:xfrm>
          <a:prstGeom prst="rect">
            <a:avLst/>
          </a:prstGeom>
          <a:noFill/>
          <a:ln/>
        </p:spPr>
        <p:txBody>
          <a:bodyPr wrap="square" rtlCol="0" anchor="ctr"/>
          <a:lstStyle/>
          <a:p>
            <a:pPr indent="0" marL="0">
              <a:lnSpc>
                <a:spcPct val="122000"/>
              </a:lnSpc>
              <a:buNone/>
            </a:pPr>
            <a:r>
              <a:rPr lang="en-US" sz="1250" dirty="0">
                <a:solidFill>
                  <a:srgbClr val="1F2430"/>
                </a:solidFill>
                <a:latin typeface="Calibri" pitchFamily="34" charset="0"/>
                <a:ea typeface="Calibri" pitchFamily="34" charset="-122"/>
                <a:cs typeface="Calibri" pitchFamily="34" charset="-120"/>
              </a:rPr>
              <a:t>Financial reporting continuity is maintained through an interim environment during the transition period.</a:t>
            </a:r>
            <a:endParaRPr lang="en-US" sz="1250" dirty="0"/>
          </a:p>
        </p:txBody>
      </p:sp>
      <p:sp>
        <p:nvSpPr>
          <p:cNvPr id="15" name="Shape 10"/>
          <p:cNvSpPr/>
          <p:nvPr/>
        </p:nvSpPr>
        <p:spPr>
          <a:xfrm>
            <a:off x="6080760" y="3794760"/>
            <a:ext cx="566928" cy="566928"/>
          </a:xfrm>
          <a:prstGeom prst="ellipse">
            <a:avLst/>
          </a:prstGeom>
          <a:solidFill>
            <a:srgbClr val="1E2761"/>
          </a:solidFill>
          <a:ln/>
        </p:spPr>
      </p:sp>
      <p:pic>
        <p:nvPicPr>
          <p:cNvPr id="16" name="Image 3" descr="icon_check_FFFFFF.png">    </p:cNvPr>
          <p:cNvPicPr>
            <a:picLocks noChangeAspect="1"/>
          </p:cNvPicPr>
          <p:nvPr/>
        </p:nvPicPr>
        <p:blipFill>
          <a:blip r:embed="rId4"/>
          <a:stretch>
            <a:fillRect/>
          </a:stretch>
        </p:blipFill>
        <p:spPr>
          <a:xfrm>
            <a:off x="6208776" y="3922776"/>
            <a:ext cx="310896" cy="310896"/>
          </a:xfrm>
          <a:prstGeom prst="rect">
            <a:avLst/>
          </a:prstGeom>
        </p:spPr>
      </p:pic>
      <p:sp>
        <p:nvSpPr>
          <p:cNvPr id="17" name="Text 11"/>
          <p:cNvSpPr/>
          <p:nvPr/>
        </p:nvSpPr>
        <p:spPr>
          <a:xfrm>
            <a:off x="6830568" y="3767328"/>
            <a:ext cx="4251960" cy="457200"/>
          </a:xfrm>
          <a:prstGeom prst="rect">
            <a:avLst/>
          </a:prstGeom>
          <a:noFill/>
          <a:ln/>
        </p:spPr>
        <p:txBody>
          <a:bodyPr wrap="square" rtlCol="0" anchor="ctr"/>
          <a:lstStyle/>
          <a:p>
            <a:pPr indent="0" marL="0">
              <a:buNone/>
            </a:pPr>
            <a:r>
              <a:rPr lang="en-US" sz="1550" b="1" dirty="0">
                <a:solidFill>
                  <a:srgbClr val="1E2761"/>
                </a:solidFill>
                <a:latin typeface="Cambria" pitchFamily="34" charset="0"/>
                <a:ea typeface="Cambria" pitchFamily="34" charset="-122"/>
                <a:cs typeface="Cambria" pitchFamily="34" charset="-120"/>
              </a:rPr>
              <a:t>Two parallel month end closes</a:t>
            </a:r>
            <a:endParaRPr lang="en-US" sz="1550" dirty="0"/>
          </a:p>
        </p:txBody>
      </p:sp>
      <p:sp>
        <p:nvSpPr>
          <p:cNvPr id="18" name="Text 12"/>
          <p:cNvSpPr/>
          <p:nvPr/>
        </p:nvSpPr>
        <p:spPr>
          <a:xfrm>
            <a:off x="6830568" y="4233672"/>
            <a:ext cx="4251960" cy="1371600"/>
          </a:xfrm>
          <a:prstGeom prst="rect">
            <a:avLst/>
          </a:prstGeom>
          <a:noFill/>
          <a:ln/>
        </p:spPr>
        <p:txBody>
          <a:bodyPr wrap="square" rtlCol="0" anchor="ctr"/>
          <a:lstStyle/>
          <a:p>
            <a:pPr indent="0" marL="0">
              <a:lnSpc>
                <a:spcPct val="122000"/>
              </a:lnSpc>
              <a:buNone/>
            </a:pPr>
            <a:r>
              <a:rPr lang="en-US" sz="1250" dirty="0">
                <a:solidFill>
                  <a:srgbClr val="1F2430"/>
                </a:solidFill>
                <a:latin typeface="Calibri" pitchFamily="34" charset="0"/>
                <a:ea typeface="Calibri" pitchFamily="34" charset="-122"/>
                <a:cs typeface="Calibri" pitchFamily="34" charset="-120"/>
              </a:rPr>
              <a:t>Completed before cutover to verify financial accuracy, validate reports, and confirm reconciliations.</a:t>
            </a:r>
            <a:endParaRPr lang="en-US" sz="1250" dirty="0"/>
          </a:p>
        </p:txBody>
      </p:sp>
      <p:sp>
        <p:nvSpPr>
          <p:cNvPr id="19" name="Text 13"/>
          <p:cNvSpPr/>
          <p:nvPr/>
        </p:nvSpPr>
        <p:spPr>
          <a:xfrm>
            <a:off x="457200" y="6473952"/>
            <a:ext cx="7772400" cy="274320"/>
          </a:xfrm>
          <a:prstGeom prst="rect">
            <a:avLst/>
          </a:prstGeom>
          <a:noFill/>
          <a:ln/>
        </p:spPr>
        <p:txBody>
          <a:bodyPr wrap="square" rtlCol="0" anchor="ctr"/>
          <a:lstStyle/>
          <a:p>
            <a:pPr algn="l" indent="0" marL="0">
              <a:buNone/>
            </a:pPr>
            <a:r>
              <a:rPr lang="en-US" sz="900" dirty="0">
                <a:solidFill>
                  <a:srgbClr val="5C6B8A"/>
                </a:solidFill>
                <a:latin typeface="Calibri" pitchFamily="34" charset="0"/>
                <a:ea typeface="Calibri" pitchFamily="34" charset="-122"/>
                <a:cs typeface="Calibri" pitchFamily="34" charset="-120"/>
              </a:rPr>
              <a:t>Alpha Manufacturing Group  |  ERP Transformation Programme</a:t>
            </a:r>
            <a:endParaRPr lang="en-US" sz="900" dirty="0"/>
          </a:p>
        </p:txBody>
      </p:sp>
      <p:sp>
        <p:nvSpPr>
          <p:cNvPr id="20" name="Text 14"/>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C6B8A"/>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548640"/>
          </a:xfrm>
          <a:prstGeom prst="rect">
            <a:avLst/>
          </a:prstGeom>
          <a:noFill/>
          <a:ln/>
        </p:spPr>
        <p:txBody>
          <a:bodyPr wrap="square"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Programme Governance</a:t>
            </a:r>
            <a:endParaRPr lang="en-US" sz="2800" dirty="0"/>
          </a:p>
        </p:txBody>
      </p:sp>
      <p:sp>
        <p:nvSpPr>
          <p:cNvPr id="3" name="Text 1"/>
          <p:cNvSpPr/>
          <p:nvPr/>
        </p:nvSpPr>
        <p:spPr>
          <a:xfrm>
            <a:off x="548640" y="960120"/>
            <a:ext cx="10789920" cy="365760"/>
          </a:xfrm>
          <a:prstGeom prst="rect">
            <a:avLst/>
          </a:prstGeom>
          <a:noFill/>
          <a:ln/>
        </p:spPr>
        <p:txBody>
          <a:bodyPr wrap="square" rtlCol="0" anchor="ctr"/>
          <a:lstStyle/>
          <a:p>
            <a:pPr indent="0" marL="0">
              <a:buNone/>
            </a:pPr>
            <a:r>
              <a:rPr lang="en-US" sz="1300" dirty="0">
                <a:solidFill>
                  <a:srgbClr val="5C6B8A"/>
                </a:solidFill>
                <a:latin typeface="Calibri" pitchFamily="34" charset="0"/>
                <a:ea typeface="Calibri" pitchFamily="34" charset="-122"/>
                <a:cs typeface="Calibri" pitchFamily="34" charset="-120"/>
              </a:rPr>
              <a:t>Disciplined governance keeps scope, data ownership, and customisation under control.</a:t>
            </a:r>
            <a:endParaRPr lang="en-US" sz="1300" dirty="0"/>
          </a:p>
        </p:txBody>
      </p:sp>
      <p:sp>
        <p:nvSpPr>
          <p:cNvPr id="4" name="Shape 2"/>
          <p:cNvSpPr/>
          <p:nvPr/>
        </p:nvSpPr>
        <p:spPr>
          <a:xfrm>
            <a:off x="594360" y="1920240"/>
            <a:ext cx="5120640" cy="3566160"/>
          </a:xfrm>
          <a:prstGeom prst="roundRect">
            <a:avLst>
              <a:gd name="adj" fmla="val 2051"/>
            </a:avLst>
          </a:prstGeom>
          <a:solidFill>
            <a:srgbClr val="F4F7FD"/>
          </a:solidFill>
          <a:ln/>
        </p:spPr>
      </p:sp>
      <p:sp>
        <p:nvSpPr>
          <p:cNvPr id="5" name="Shape 3"/>
          <p:cNvSpPr/>
          <p:nvPr/>
        </p:nvSpPr>
        <p:spPr>
          <a:xfrm>
            <a:off x="914400" y="2240280"/>
            <a:ext cx="658368" cy="658368"/>
          </a:xfrm>
          <a:prstGeom prst="ellipse">
            <a:avLst/>
          </a:prstGeom>
          <a:solidFill>
            <a:srgbClr val="1E2761"/>
          </a:solidFill>
          <a:ln/>
        </p:spPr>
      </p:sp>
      <p:pic>
        <p:nvPicPr>
          <p:cNvPr id="6" name="Image 0" descr="icon_users_FFFFFF.png">    </p:cNvPr>
          <p:cNvPicPr>
            <a:picLocks noChangeAspect="1"/>
          </p:cNvPicPr>
          <p:nvPr/>
        </p:nvPicPr>
        <p:blipFill>
          <a:blip r:embed="rId1"/>
          <a:stretch>
            <a:fillRect/>
          </a:stretch>
        </p:blipFill>
        <p:spPr>
          <a:xfrm>
            <a:off x="1078992" y="2404872"/>
            <a:ext cx="329184" cy="329184"/>
          </a:xfrm>
          <a:prstGeom prst="rect">
            <a:avLst/>
          </a:prstGeom>
        </p:spPr>
      </p:pic>
      <p:sp>
        <p:nvSpPr>
          <p:cNvPr id="7" name="Text 4"/>
          <p:cNvSpPr/>
          <p:nvPr/>
        </p:nvSpPr>
        <p:spPr>
          <a:xfrm>
            <a:off x="914400" y="3063240"/>
            <a:ext cx="4480560" cy="502920"/>
          </a:xfrm>
          <a:prstGeom prst="rect">
            <a:avLst/>
          </a:prstGeom>
          <a:noFill/>
          <a:ln/>
        </p:spPr>
        <p:txBody>
          <a:bodyPr wrap="square"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Executive Steering Committee</a:t>
            </a:r>
            <a:endParaRPr lang="en-US" sz="1800" dirty="0"/>
          </a:p>
        </p:txBody>
      </p:sp>
      <p:sp>
        <p:nvSpPr>
          <p:cNvPr id="8" name="Text 5"/>
          <p:cNvSpPr/>
          <p:nvPr/>
        </p:nvSpPr>
        <p:spPr>
          <a:xfrm>
            <a:off x="914400" y="3611880"/>
            <a:ext cx="4480560" cy="1645920"/>
          </a:xfrm>
          <a:prstGeom prst="rect">
            <a:avLst/>
          </a:prstGeom>
          <a:noFill/>
          <a:ln/>
        </p:spPr>
        <p:txBody>
          <a:bodyPr wrap="square" rtlCol="0" anchor="ctr"/>
          <a:lstStyle/>
          <a:p>
            <a:pPr indent="0" marL="0">
              <a:lnSpc>
                <a:spcPct val="130000"/>
              </a:lnSpc>
              <a:buNone/>
            </a:pPr>
            <a:r>
              <a:rPr lang="en-US" sz="1350" dirty="0">
                <a:solidFill>
                  <a:srgbClr val="1F2430"/>
                </a:solidFill>
                <a:latin typeface="Calibri" pitchFamily="34" charset="0"/>
                <a:ea typeface="Calibri" pitchFamily="34" charset="-122"/>
                <a:cs typeface="Calibri" pitchFamily="34" charset="-120"/>
              </a:rPr>
              <a:t>Monitors progress, resolves major issues, approves scope changes, and ensures strategic alignment throughout the implementation.</a:t>
            </a:r>
            <a:endParaRPr lang="en-US" sz="1350" dirty="0"/>
          </a:p>
        </p:txBody>
      </p:sp>
      <p:sp>
        <p:nvSpPr>
          <p:cNvPr id="9" name="Shape 6"/>
          <p:cNvSpPr/>
          <p:nvPr/>
        </p:nvSpPr>
        <p:spPr>
          <a:xfrm>
            <a:off x="6217920" y="1920240"/>
            <a:ext cx="5120640" cy="3566160"/>
          </a:xfrm>
          <a:prstGeom prst="roundRect">
            <a:avLst>
              <a:gd name="adj" fmla="val 2051"/>
            </a:avLst>
          </a:prstGeom>
          <a:solidFill>
            <a:srgbClr val="F4F7FD"/>
          </a:solidFill>
          <a:ln/>
        </p:spPr>
      </p:sp>
      <p:sp>
        <p:nvSpPr>
          <p:cNvPr id="10" name="Shape 7"/>
          <p:cNvSpPr/>
          <p:nvPr/>
        </p:nvSpPr>
        <p:spPr>
          <a:xfrm>
            <a:off x="6537960" y="2240280"/>
            <a:ext cx="658368" cy="658368"/>
          </a:xfrm>
          <a:prstGeom prst="ellipse">
            <a:avLst/>
          </a:prstGeom>
          <a:solidFill>
            <a:srgbClr val="1E2761"/>
          </a:solidFill>
          <a:ln/>
        </p:spPr>
      </p:sp>
      <p:pic>
        <p:nvPicPr>
          <p:cNvPr id="11" name="Image 1" descr="icon_lock_FFFFFF.png">    </p:cNvPr>
          <p:cNvPicPr>
            <a:picLocks noChangeAspect="1"/>
          </p:cNvPicPr>
          <p:nvPr/>
        </p:nvPicPr>
        <p:blipFill>
          <a:blip r:embed="rId2"/>
          <a:stretch>
            <a:fillRect/>
          </a:stretch>
        </p:blipFill>
        <p:spPr>
          <a:xfrm>
            <a:off x="6702552" y="2404872"/>
            <a:ext cx="329184" cy="329184"/>
          </a:xfrm>
          <a:prstGeom prst="rect">
            <a:avLst/>
          </a:prstGeom>
        </p:spPr>
      </p:pic>
      <p:sp>
        <p:nvSpPr>
          <p:cNvPr id="12" name="Text 8"/>
          <p:cNvSpPr/>
          <p:nvPr/>
        </p:nvSpPr>
        <p:spPr>
          <a:xfrm>
            <a:off x="6537960" y="3063240"/>
            <a:ext cx="4480560" cy="502920"/>
          </a:xfrm>
          <a:prstGeom prst="rect">
            <a:avLst/>
          </a:prstGeom>
          <a:noFill/>
          <a:ln/>
        </p:spPr>
        <p:txBody>
          <a:bodyPr wrap="square"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Change Control Board</a:t>
            </a:r>
            <a:endParaRPr lang="en-US" sz="1800" dirty="0"/>
          </a:p>
        </p:txBody>
      </p:sp>
      <p:sp>
        <p:nvSpPr>
          <p:cNvPr id="13" name="Text 9"/>
          <p:cNvSpPr/>
          <p:nvPr/>
        </p:nvSpPr>
        <p:spPr>
          <a:xfrm>
            <a:off x="6537960" y="3611880"/>
            <a:ext cx="4480560" cy="1645920"/>
          </a:xfrm>
          <a:prstGeom prst="rect">
            <a:avLst/>
          </a:prstGeom>
          <a:noFill/>
          <a:ln/>
        </p:spPr>
        <p:txBody>
          <a:bodyPr wrap="square" rtlCol="0" anchor="ctr"/>
          <a:lstStyle/>
          <a:p>
            <a:pPr indent="0" marL="0">
              <a:lnSpc>
                <a:spcPct val="130000"/>
              </a:lnSpc>
              <a:buNone/>
            </a:pPr>
            <a:r>
              <a:rPr lang="en-US" sz="1350" dirty="0">
                <a:solidFill>
                  <a:srgbClr val="1F2430"/>
                </a:solidFill>
                <a:latin typeface="Calibri" pitchFamily="34" charset="0"/>
                <a:ea typeface="Calibri" pitchFamily="34" charset="-122"/>
                <a:cs typeface="Calibri" pitchFamily="34" charset="-120"/>
              </a:rPr>
              <a:t>Holds authority to approve or reject all change requests, keeping customisation and cost under control.</a:t>
            </a:r>
            <a:endParaRPr lang="en-US" sz="1350" dirty="0"/>
          </a:p>
        </p:txBody>
      </p:sp>
      <p:sp>
        <p:nvSpPr>
          <p:cNvPr id="14" name="Text 10"/>
          <p:cNvSpPr/>
          <p:nvPr/>
        </p:nvSpPr>
        <p:spPr>
          <a:xfrm>
            <a:off x="457200" y="6473952"/>
            <a:ext cx="7772400" cy="274320"/>
          </a:xfrm>
          <a:prstGeom prst="rect">
            <a:avLst/>
          </a:prstGeom>
          <a:noFill/>
          <a:ln/>
        </p:spPr>
        <p:txBody>
          <a:bodyPr wrap="square" rtlCol="0" anchor="ctr"/>
          <a:lstStyle/>
          <a:p>
            <a:pPr algn="l" indent="0" marL="0">
              <a:buNone/>
            </a:pPr>
            <a:r>
              <a:rPr lang="en-US" sz="900" dirty="0">
                <a:solidFill>
                  <a:srgbClr val="5C6B8A"/>
                </a:solidFill>
                <a:latin typeface="Calibri" pitchFamily="34" charset="0"/>
                <a:ea typeface="Calibri" pitchFamily="34" charset="-122"/>
                <a:cs typeface="Calibri" pitchFamily="34" charset="-120"/>
              </a:rPr>
              <a:t>Alpha Manufacturing Group  |  ERP Transformation Programme</a:t>
            </a:r>
            <a:endParaRPr lang="en-US" sz="900" dirty="0"/>
          </a:p>
        </p:txBody>
      </p:sp>
      <p:sp>
        <p:nvSpPr>
          <p:cNvPr id="15" name="Text 11"/>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5C6B8A"/>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2286000" y="3840480"/>
            <a:ext cx="5029200" cy="5029200"/>
          </a:xfrm>
          <a:prstGeom prst="ellipse">
            <a:avLst/>
          </a:prstGeom>
          <a:solidFill>
            <a:srgbClr val="3B4C99">
              <a:alpha val="28000"/>
            </a:srgbClr>
          </a:solidFill>
          <a:ln/>
        </p:spPr>
      </p:sp>
      <p:sp>
        <p:nvSpPr>
          <p:cNvPr id="3" name="Text 1"/>
          <p:cNvSpPr/>
          <p:nvPr/>
        </p:nvSpPr>
        <p:spPr>
          <a:xfrm>
            <a:off x="822960" y="685800"/>
            <a:ext cx="9144000" cy="54864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Recommendation</a:t>
            </a:r>
            <a:endParaRPr lang="en-US" sz="3000" dirty="0"/>
          </a:p>
        </p:txBody>
      </p:sp>
      <p:sp>
        <p:nvSpPr>
          <p:cNvPr id="4" name="Text 2"/>
          <p:cNvSpPr/>
          <p:nvPr/>
        </p:nvSpPr>
        <p:spPr>
          <a:xfrm>
            <a:off x="822960" y="1417320"/>
            <a:ext cx="10424160" cy="1188720"/>
          </a:xfrm>
          <a:prstGeom prst="rect">
            <a:avLst/>
          </a:prstGeom>
          <a:noFill/>
          <a:ln/>
        </p:spPr>
        <p:txBody>
          <a:bodyPr wrap="square" rtlCol="0" anchor="ctr"/>
          <a:lstStyle/>
          <a:p>
            <a:pPr indent="0" marL="0">
              <a:lnSpc>
                <a:spcPct val="130000"/>
              </a:lnSpc>
              <a:buNone/>
            </a:pPr>
            <a:r>
              <a:rPr lang="en-US" sz="1500" dirty="0">
                <a:solidFill>
                  <a:srgbClr val="CADCFC"/>
                </a:solidFill>
                <a:latin typeface="Calibri" pitchFamily="34" charset="0"/>
                <a:ea typeface="Calibri" pitchFamily="34" charset="-122"/>
                <a:cs typeface="Calibri" pitchFamily="34" charset="-120"/>
              </a:rPr>
              <a:t>We recommend that Alpha Manufacturing Group approve a 12 month ERP transformation programme centred on a single integrated core, prioritising Finance, Manufacturing, Procurement, Engineering, and Material Requirements Planning, while deferring CRM and HRIS to a second phase.</a:t>
            </a:r>
            <a:endParaRPr lang="en-US" sz="1500" dirty="0"/>
          </a:p>
        </p:txBody>
      </p:sp>
      <p:sp>
        <p:nvSpPr>
          <p:cNvPr id="5" name="Shape 3"/>
          <p:cNvSpPr/>
          <p:nvPr/>
        </p:nvSpPr>
        <p:spPr>
          <a:xfrm>
            <a:off x="868680" y="2926080"/>
            <a:ext cx="128016" cy="128016"/>
          </a:xfrm>
          <a:prstGeom prst="ellipse">
            <a:avLst/>
          </a:prstGeom>
          <a:solidFill>
            <a:srgbClr val="CADCFC"/>
          </a:solidFill>
          <a:ln/>
        </p:spPr>
      </p:sp>
      <p:sp>
        <p:nvSpPr>
          <p:cNvPr id="6" name="Text 4"/>
          <p:cNvSpPr/>
          <p:nvPr/>
        </p:nvSpPr>
        <p:spPr>
          <a:xfrm>
            <a:off x="1143000" y="2770632"/>
            <a:ext cx="5943600" cy="36576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Disciplined governance</a:t>
            </a:r>
            <a:endParaRPr lang="en-US" sz="1400" dirty="0"/>
          </a:p>
        </p:txBody>
      </p:sp>
      <p:sp>
        <p:nvSpPr>
          <p:cNvPr id="7" name="Shape 5"/>
          <p:cNvSpPr/>
          <p:nvPr/>
        </p:nvSpPr>
        <p:spPr>
          <a:xfrm>
            <a:off x="868680" y="3383280"/>
            <a:ext cx="128016" cy="128016"/>
          </a:xfrm>
          <a:prstGeom prst="ellipse">
            <a:avLst/>
          </a:prstGeom>
          <a:solidFill>
            <a:srgbClr val="CADCFC"/>
          </a:solidFill>
          <a:ln/>
        </p:spPr>
      </p:sp>
      <p:sp>
        <p:nvSpPr>
          <p:cNvPr id="8" name="Text 6"/>
          <p:cNvSpPr/>
          <p:nvPr/>
        </p:nvSpPr>
        <p:spPr>
          <a:xfrm>
            <a:off x="1143000" y="3227832"/>
            <a:ext cx="5943600" cy="36576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Controlled scope management</a:t>
            </a:r>
            <a:endParaRPr lang="en-US" sz="1400" dirty="0"/>
          </a:p>
        </p:txBody>
      </p:sp>
      <p:sp>
        <p:nvSpPr>
          <p:cNvPr id="9" name="Shape 7"/>
          <p:cNvSpPr/>
          <p:nvPr/>
        </p:nvSpPr>
        <p:spPr>
          <a:xfrm>
            <a:off x="868680" y="3840480"/>
            <a:ext cx="128016" cy="128016"/>
          </a:xfrm>
          <a:prstGeom prst="ellipse">
            <a:avLst/>
          </a:prstGeom>
          <a:solidFill>
            <a:srgbClr val="CADCFC"/>
          </a:solidFill>
          <a:ln/>
        </p:spPr>
      </p:sp>
      <p:sp>
        <p:nvSpPr>
          <p:cNvPr id="10" name="Text 8"/>
          <p:cNvSpPr/>
          <p:nvPr/>
        </p:nvSpPr>
        <p:spPr>
          <a:xfrm>
            <a:off x="1143000" y="3685032"/>
            <a:ext cx="5943600" cy="36576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Strong executive sponsorship</a:t>
            </a:r>
            <a:endParaRPr lang="en-US" sz="1400" dirty="0"/>
          </a:p>
        </p:txBody>
      </p:sp>
      <p:sp>
        <p:nvSpPr>
          <p:cNvPr id="11" name="Shape 9"/>
          <p:cNvSpPr/>
          <p:nvPr/>
        </p:nvSpPr>
        <p:spPr>
          <a:xfrm>
            <a:off x="868680" y="4297680"/>
            <a:ext cx="128016" cy="128016"/>
          </a:xfrm>
          <a:prstGeom prst="ellipse">
            <a:avLst/>
          </a:prstGeom>
          <a:solidFill>
            <a:srgbClr val="CADCFC"/>
          </a:solidFill>
          <a:ln/>
        </p:spPr>
      </p:sp>
      <p:sp>
        <p:nvSpPr>
          <p:cNvPr id="12" name="Text 10"/>
          <p:cNvSpPr/>
          <p:nvPr/>
        </p:nvSpPr>
        <p:spPr>
          <a:xfrm>
            <a:off x="1143000" y="4142232"/>
            <a:ext cx="5943600" cy="36576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Comprehensive testing</a:t>
            </a:r>
            <a:endParaRPr lang="en-US" sz="1400" dirty="0"/>
          </a:p>
        </p:txBody>
      </p:sp>
      <p:sp>
        <p:nvSpPr>
          <p:cNvPr id="13" name="Shape 11"/>
          <p:cNvSpPr/>
          <p:nvPr/>
        </p:nvSpPr>
        <p:spPr>
          <a:xfrm>
            <a:off x="868680" y="4754880"/>
            <a:ext cx="128016" cy="128016"/>
          </a:xfrm>
          <a:prstGeom prst="ellipse">
            <a:avLst/>
          </a:prstGeom>
          <a:solidFill>
            <a:srgbClr val="CADCFC"/>
          </a:solidFill>
          <a:ln/>
        </p:spPr>
      </p:sp>
      <p:sp>
        <p:nvSpPr>
          <p:cNvPr id="14" name="Text 12"/>
          <p:cNvSpPr/>
          <p:nvPr/>
        </p:nvSpPr>
        <p:spPr>
          <a:xfrm>
            <a:off x="1143000" y="4599432"/>
            <a:ext cx="5943600" cy="36576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High quality data migration</a:t>
            </a:r>
            <a:endParaRPr lang="en-US" sz="1400" dirty="0"/>
          </a:p>
        </p:txBody>
      </p:sp>
      <p:sp>
        <p:nvSpPr>
          <p:cNvPr id="15" name="Text 13"/>
          <p:cNvSpPr/>
          <p:nvPr/>
        </p:nvSpPr>
        <p:spPr>
          <a:xfrm>
            <a:off x="822960" y="5486400"/>
            <a:ext cx="10424160" cy="822960"/>
          </a:xfrm>
          <a:prstGeom prst="rect">
            <a:avLst/>
          </a:prstGeom>
          <a:noFill/>
          <a:ln/>
        </p:spPr>
        <p:txBody>
          <a:bodyPr wrap="square" rtlCol="0" anchor="ctr"/>
          <a:lstStyle/>
          <a:p>
            <a:pPr indent="0" marL="0">
              <a:lnSpc>
                <a:spcPct val="125000"/>
              </a:lnSpc>
              <a:buNone/>
            </a:pPr>
            <a:r>
              <a:rPr lang="en-US" sz="1350" i="1" dirty="0">
                <a:solidFill>
                  <a:srgbClr val="CADCFC"/>
                </a:solidFill>
                <a:latin typeface="Calibri" pitchFamily="34" charset="0"/>
                <a:ea typeface="Calibri" pitchFamily="34" charset="-122"/>
                <a:cs typeface="Calibri" pitchFamily="34" charset="-120"/>
              </a:rPr>
              <a:t>This approach reduces implementation risk while delivering reliable contribution margin reporting, integrated engineering processes, and a scalable foundation for future growth.</a:t>
            </a:r>
            <a:endParaRPr lang="en-US" sz="1350" dirty="0"/>
          </a:p>
        </p:txBody>
      </p:sp>
      <p:sp>
        <p:nvSpPr>
          <p:cNvPr id="16" name="Text 14"/>
          <p:cNvSpPr/>
          <p:nvPr/>
        </p:nvSpPr>
        <p:spPr>
          <a:xfrm>
            <a:off x="457200" y="6473952"/>
            <a:ext cx="7772400" cy="274320"/>
          </a:xfrm>
          <a:prstGeom prst="rect">
            <a:avLst/>
          </a:prstGeom>
          <a:noFill/>
          <a:ln/>
        </p:spPr>
        <p:txBody>
          <a:bodyPr wrap="square" rtlCol="0" anchor="ctr"/>
          <a:lstStyle/>
          <a:p>
            <a:pPr algn="l" indent="0" marL="0">
              <a:buNone/>
            </a:pPr>
            <a:r>
              <a:rPr lang="en-US" sz="900" dirty="0">
                <a:solidFill>
                  <a:srgbClr val="CADCFC"/>
                </a:solidFill>
                <a:latin typeface="Calibri" pitchFamily="34" charset="0"/>
                <a:ea typeface="Calibri" pitchFamily="34" charset="-122"/>
                <a:cs typeface="Calibri" pitchFamily="34" charset="-120"/>
              </a:rPr>
              <a:t>Alpha Manufacturing Group  |  ERP Transformation Programme</a:t>
            </a:r>
            <a:endParaRPr lang="en-US" sz="900" dirty="0"/>
          </a:p>
        </p:txBody>
      </p:sp>
      <p:sp>
        <p:nvSpPr>
          <p:cNvPr id="17" name="Text 15"/>
          <p:cNvSpPr/>
          <p:nvPr/>
        </p:nvSpPr>
        <p:spPr>
          <a:xfrm>
            <a:off x="11274552" y="6473952"/>
            <a:ext cx="457200" cy="274320"/>
          </a:xfrm>
          <a:prstGeom prst="rect">
            <a:avLst/>
          </a:prstGeom>
          <a:noFill/>
          <a:ln/>
        </p:spPr>
        <p:txBody>
          <a:bodyPr wrap="square" rtlCol="0" anchor="ctr"/>
          <a:lstStyle/>
          <a:p>
            <a:pPr algn="r" indent="0" marL="0">
              <a:buNone/>
            </a:pPr>
            <a:r>
              <a:rPr lang="en-US" sz="900" dirty="0">
                <a:solidFill>
                  <a:srgbClr val="CADCFC"/>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2026-07-15T20:00:51Z</dcterms:created>
  <dcterms:modified xsi:type="dcterms:W3CDTF">2026-07-15T20:00:51Z</dcterms:modified>
</cp:coreProperties>
</file>